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EB Garamond Medium"/>
      <p:regular r:id="rId36"/>
      <p:bold r:id="rId37"/>
      <p:italic r:id="rId38"/>
      <p:boldItalic r:id="rId39"/>
    </p:embeddedFont>
    <p:embeddedFont>
      <p:font typeface="Lato"/>
      <p:regular r:id="rId40"/>
      <p:bold r:id="rId41"/>
      <p:italic r:id="rId42"/>
      <p:boldItalic r:id="rId43"/>
    </p:embeddedFont>
    <p:embeddedFont>
      <p:font typeface="Lexend"/>
      <p:regular r:id="rId44"/>
      <p:bold r:id="rId45"/>
    </p:embeddedFont>
    <p:embeddedFont>
      <p:font typeface="Roboto Mono"/>
      <p:regular r:id="rId46"/>
      <p:bold r:id="rId47"/>
      <p:italic r:id="rId48"/>
      <p:boldItalic r:id="rId49"/>
    </p:embeddedFont>
    <p:embeddedFont>
      <p:font typeface="Comfortaa"/>
      <p:regular r:id="rId50"/>
      <p:bold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ato-regular.fntdata"/><Relationship Id="rId42" Type="http://schemas.openxmlformats.org/officeDocument/2006/relationships/font" Target="fonts/Lato-italic.fntdata"/><Relationship Id="rId41" Type="http://schemas.openxmlformats.org/officeDocument/2006/relationships/font" Target="fonts/Lato-bold.fntdata"/><Relationship Id="rId44" Type="http://schemas.openxmlformats.org/officeDocument/2006/relationships/font" Target="fonts/Lexend-regular.fntdata"/><Relationship Id="rId43" Type="http://schemas.openxmlformats.org/officeDocument/2006/relationships/font" Target="fonts/Lato-boldItalic.fntdata"/><Relationship Id="rId46" Type="http://schemas.openxmlformats.org/officeDocument/2006/relationships/font" Target="fonts/RobotoMono-regular.fntdata"/><Relationship Id="rId45" Type="http://schemas.openxmlformats.org/officeDocument/2006/relationships/font" Target="fonts/Lexen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obotoMono-italic.fntdata"/><Relationship Id="rId47" Type="http://schemas.openxmlformats.org/officeDocument/2006/relationships/font" Target="fonts/RobotoMono-bold.fntdata"/><Relationship Id="rId49" Type="http://schemas.openxmlformats.org/officeDocument/2006/relationships/font" Target="fonts/RobotoMono-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font" Target="fonts/EBGaramondMedium-bold.fntdata"/><Relationship Id="rId36" Type="http://schemas.openxmlformats.org/officeDocument/2006/relationships/font" Target="fonts/EBGaramondMedium-regular.fntdata"/><Relationship Id="rId39" Type="http://schemas.openxmlformats.org/officeDocument/2006/relationships/font" Target="fonts/EBGaramondMedium-boldItalic.fntdata"/><Relationship Id="rId38" Type="http://schemas.openxmlformats.org/officeDocument/2006/relationships/font" Target="fonts/EBGaramondMedium-italic.fntdata"/><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Comfortaa-bold.fntdata"/><Relationship Id="rId50" Type="http://schemas.openxmlformats.org/officeDocument/2006/relationships/font" Target="fonts/Comfortaa-regular.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8cfca81af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8cfca81af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g38cfca81af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g38cfca81af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8cfca81af9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8cfca81af9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8cfca81af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8cfca81af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g38cfca81af9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g38cfca81af9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8cfca81af9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8cfca81af9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8cfca81af9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8cfca81af9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8cfca81af9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38cfca81af9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cfca81af9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cfca81af9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8cfca81af9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8cfca81af9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cfca81af9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8cfca81af9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8cfca81af9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8cfca81af9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cfca81af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cfca81af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cfca81af9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cfca81af9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8cfca81af9_0_1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8cfca81af9_0_1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cfca81af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cfca81af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8cfca81af9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8cfca81af9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8cfca81af9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8cfca81af9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8cfca81af9_0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38cfca81af9_0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8cfd791eb7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38cfd791eb7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8cfd791eb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8cfd791eb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8cfd791eb7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8cfd791eb7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cfd791eb7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8cfd791eb7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8cfd791eb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8cfd791eb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8cfd791eb7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8cfd791eb7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8cfd791eb7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8cfd791eb7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8cfd791eb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8cfd791eb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8cfd791eb7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8cfd791eb7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cfd791eb7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cfd791eb7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38cfd791eb7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3" name="Google Shape;213;g38cfd791eb7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 Id="rId3" Type="http://schemas.openxmlformats.org/officeDocument/2006/relationships/hyperlink" Target="https://archive.ics.uci.edu/dataset/468/online+shoppers+purchasing+intention+dataset" TargetMode="External"/><Relationship Id="rId4" Type="http://schemas.openxmlformats.org/officeDocument/2006/relationships/hyperlink" Target="https://archive.ics.uci.edu/dataset/468/online+shoppers+purchasing+intention+datase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p:nvPr/>
        </p:nvSpPr>
        <p:spPr>
          <a:xfrm>
            <a:off x="67425" y="92400"/>
            <a:ext cx="8906100" cy="4979400"/>
          </a:xfrm>
          <a:prstGeom prst="rect">
            <a:avLst/>
          </a:prstGeom>
          <a:solidFill>
            <a:srgbClr val="FFFFF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 </a:t>
            </a:r>
            <a:endParaRPr/>
          </a:p>
        </p:txBody>
      </p:sp>
      <p:sp>
        <p:nvSpPr>
          <p:cNvPr id="55" name="Google Shape;55;p13"/>
          <p:cNvSpPr txBox="1"/>
          <p:nvPr/>
        </p:nvSpPr>
        <p:spPr>
          <a:xfrm>
            <a:off x="1443075" y="341425"/>
            <a:ext cx="6154800" cy="793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Comfortaa"/>
                <a:ea typeface="Comfortaa"/>
                <a:cs typeface="Comfortaa"/>
                <a:sym typeface="Comfortaa"/>
              </a:rPr>
              <a:t>“</a:t>
            </a:r>
            <a:r>
              <a:rPr b="1" lang="en">
                <a:solidFill>
                  <a:schemeClr val="dk1"/>
                </a:solidFill>
                <a:latin typeface="Comfortaa"/>
                <a:ea typeface="Comfortaa"/>
                <a:cs typeface="Comfortaa"/>
                <a:sym typeface="Comfortaa"/>
              </a:rPr>
              <a:t>ONLINE SHOPPERS PURCHASE INTENTION </a:t>
            </a:r>
            <a:endParaRPr b="1">
              <a:solidFill>
                <a:schemeClr val="dk1"/>
              </a:solidFill>
              <a:latin typeface="Comfortaa"/>
              <a:ea typeface="Comfortaa"/>
              <a:cs typeface="Comfortaa"/>
              <a:sym typeface="Comfortaa"/>
            </a:endParaRPr>
          </a:p>
          <a:p>
            <a:pPr indent="0" lvl="0" marL="0" rtl="0" algn="ctr">
              <a:spcBef>
                <a:spcPts val="0"/>
              </a:spcBef>
              <a:spcAft>
                <a:spcPts val="0"/>
              </a:spcAft>
              <a:buNone/>
            </a:pPr>
            <a:r>
              <a:rPr b="1" lang="en">
                <a:solidFill>
                  <a:schemeClr val="dk1"/>
                </a:solidFill>
                <a:latin typeface="Comfortaa"/>
                <a:ea typeface="Comfortaa"/>
                <a:cs typeface="Comfortaa"/>
                <a:sym typeface="Comfortaa"/>
              </a:rPr>
              <a:t>   </a:t>
            </a:r>
            <a:r>
              <a:rPr b="1" lang="en">
                <a:solidFill>
                  <a:schemeClr val="lt1"/>
                </a:solidFill>
                <a:highlight>
                  <a:srgbClr val="FF00FF"/>
                </a:highlight>
                <a:latin typeface="Comfortaa"/>
                <a:ea typeface="Comfortaa"/>
                <a:cs typeface="Comfortaa"/>
                <a:sym typeface="Comfortaa"/>
              </a:rPr>
              <a:t>PREDICTIVE ANALYSIS</a:t>
            </a:r>
            <a:endParaRPr b="1">
              <a:solidFill>
                <a:schemeClr val="lt1"/>
              </a:solidFill>
              <a:highlight>
                <a:srgbClr val="FF00FF"/>
              </a:highlight>
              <a:latin typeface="Comfortaa"/>
              <a:ea typeface="Comfortaa"/>
              <a:cs typeface="Comfortaa"/>
              <a:sym typeface="Comfortaa"/>
            </a:endParaRPr>
          </a:p>
          <a:p>
            <a:pPr indent="0" lvl="0" marL="0" rtl="0" algn="ctr">
              <a:spcBef>
                <a:spcPts val="0"/>
              </a:spcBef>
              <a:spcAft>
                <a:spcPts val="0"/>
              </a:spcAft>
              <a:buNone/>
            </a:pPr>
            <a:r>
              <a:rPr b="1" lang="en">
                <a:solidFill>
                  <a:schemeClr val="dk1"/>
                </a:solidFill>
                <a:latin typeface="Comfortaa"/>
                <a:ea typeface="Comfortaa"/>
                <a:cs typeface="Comfortaa"/>
                <a:sym typeface="Comfortaa"/>
              </a:rPr>
              <a:t> USING MACHINE LEARNING”</a:t>
            </a:r>
            <a:endParaRPr b="1" sz="1800">
              <a:solidFill>
                <a:schemeClr val="dk2"/>
              </a:solidFill>
              <a:latin typeface="Comfortaa"/>
              <a:ea typeface="Comfortaa"/>
              <a:cs typeface="Comfortaa"/>
              <a:sym typeface="Comfortaa"/>
            </a:endParaRPr>
          </a:p>
        </p:txBody>
      </p:sp>
      <p:sp>
        <p:nvSpPr>
          <p:cNvPr id="56" name="Google Shape;56;p13"/>
          <p:cNvSpPr txBox="1"/>
          <p:nvPr/>
        </p:nvSpPr>
        <p:spPr>
          <a:xfrm>
            <a:off x="1701200" y="1396275"/>
            <a:ext cx="6154800" cy="3458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                                     </a:t>
            </a:r>
            <a:r>
              <a:rPr b="1" lang="en">
                <a:solidFill>
                  <a:schemeClr val="dk1"/>
                </a:solidFill>
              </a:rPr>
              <a:t> </a:t>
            </a:r>
            <a:r>
              <a:rPr b="1" lang="en">
                <a:solidFill>
                  <a:schemeClr val="dk1"/>
                </a:solidFill>
              </a:rPr>
              <a:t>PROJECT REPORT</a:t>
            </a:r>
            <a:endParaRPr b="1">
              <a:solidFill>
                <a:schemeClr val="dk1"/>
              </a:solidFill>
            </a:endParaRPr>
          </a:p>
          <a:p>
            <a:pPr indent="0" lvl="0" marL="0" rtl="0" algn="l">
              <a:spcBef>
                <a:spcPts val="0"/>
              </a:spcBef>
              <a:spcAft>
                <a:spcPts val="0"/>
              </a:spcAft>
              <a:buNone/>
            </a:pPr>
            <a:r>
              <a:rPr lang="en">
                <a:solidFill>
                  <a:schemeClr val="dk1"/>
                </a:solidFill>
              </a:rPr>
              <a:t>                                                 </a:t>
            </a:r>
            <a:r>
              <a:rPr lang="en" sz="1200">
                <a:solidFill>
                  <a:schemeClr val="dk1"/>
                </a:solidFill>
              </a:rPr>
              <a:t> By</a:t>
            </a:r>
            <a:r>
              <a:rPr lang="en">
                <a:solidFill>
                  <a:schemeClr val="dk1"/>
                </a:solidFill>
              </a:rPr>
              <a:t> </a:t>
            </a:r>
            <a:endParaRPr b="1">
              <a:solidFill>
                <a:schemeClr val="dk1"/>
              </a:solidFill>
            </a:endParaRPr>
          </a:p>
          <a:p>
            <a:pPr indent="0" lvl="0" marL="0" rtl="0" algn="l">
              <a:spcBef>
                <a:spcPts val="0"/>
              </a:spcBef>
              <a:spcAft>
                <a:spcPts val="0"/>
              </a:spcAft>
              <a:buNone/>
            </a:pPr>
            <a:r>
              <a:rPr b="1" lang="en">
                <a:solidFill>
                  <a:schemeClr val="dk1"/>
                </a:solidFill>
              </a:rPr>
              <a:t>                                          SAGAR SS</a:t>
            </a:r>
            <a:endParaRPr b="1">
              <a:solidFill>
                <a:schemeClr val="dk1"/>
              </a:solidFill>
            </a:endParaRPr>
          </a:p>
          <a:p>
            <a:pPr indent="0" lvl="0" marL="0" rtl="0" algn="l">
              <a:spcBef>
                <a:spcPts val="0"/>
              </a:spcBef>
              <a:spcAft>
                <a:spcPts val="0"/>
              </a:spcAft>
              <a:buNone/>
            </a:pPr>
            <a:r>
              <a:t/>
            </a:r>
            <a:endParaRPr b="1">
              <a:solidFill>
                <a:schemeClr val="dk1"/>
              </a:solidFill>
            </a:endParaRPr>
          </a:p>
          <a:p>
            <a:pPr indent="0" lvl="0" marL="0" rtl="0" algn="l">
              <a:spcBef>
                <a:spcPts val="0"/>
              </a:spcBef>
              <a:spcAft>
                <a:spcPts val="0"/>
              </a:spcAft>
              <a:buNone/>
            </a:pPr>
            <a:r>
              <a:rPr b="1" lang="en">
                <a:solidFill>
                  <a:schemeClr val="dk1"/>
                </a:solidFill>
              </a:rPr>
              <a:t>                                        DATA ANALYST</a:t>
            </a:r>
            <a:endParaRPr b="1">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latin typeface="EB Garamond Medium"/>
              <a:ea typeface="EB Garamond Medium"/>
              <a:cs typeface="EB Garamond Medium"/>
              <a:sym typeface="EB Garamond Medium"/>
            </a:endParaRPr>
          </a:p>
          <a:p>
            <a:pPr indent="0" lvl="0" marL="0" rtl="0" algn="l">
              <a:spcBef>
                <a:spcPts val="0"/>
              </a:spcBef>
              <a:spcAft>
                <a:spcPts val="0"/>
              </a:spcAft>
              <a:buNone/>
            </a:pPr>
            <a:r>
              <a:rPr lang="en">
                <a:solidFill>
                  <a:schemeClr val="dk1"/>
                </a:solidFill>
                <a:latin typeface="EB Garamond Medium"/>
                <a:ea typeface="EB Garamond Medium"/>
                <a:cs typeface="EB Garamond Medium"/>
                <a:sym typeface="EB Garamond Medium"/>
              </a:rPr>
              <a:t>                           UNDER THE GUIDANCE AND SUPERVISION OF</a:t>
            </a:r>
            <a:r>
              <a:rPr b="1" lang="en">
                <a:solidFill>
                  <a:schemeClr val="dk1"/>
                </a:solidFill>
              </a:rPr>
              <a:t> </a:t>
            </a:r>
            <a:endParaRPr b="1">
              <a:solidFill>
                <a:schemeClr val="dk1"/>
              </a:solidFill>
            </a:endParaRPr>
          </a:p>
          <a:p>
            <a:pPr indent="0" lvl="0" marL="0" rtl="0" algn="ctr">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a:t>
            </a:r>
            <a:r>
              <a:rPr b="1" lang="en">
                <a:solidFill>
                  <a:schemeClr val="dk1"/>
                </a:solidFill>
              </a:rPr>
              <a:t>JIMCY </a:t>
            </a:r>
            <a:endParaRPr b="1">
              <a:solidFill>
                <a:schemeClr val="dk1"/>
              </a:solidFill>
            </a:endParaRPr>
          </a:p>
          <a:p>
            <a:pPr indent="0" lvl="0" marL="0" rtl="0" algn="ctr">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None/>
            </a:pPr>
            <a:r>
              <a:rPr lang="en">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                                        Kochi, Kerala 682025 </a:t>
            </a:r>
            <a:endParaRPr>
              <a:solidFill>
                <a:schemeClr val="dk1"/>
              </a:solidFill>
            </a:endParaRPr>
          </a:p>
        </p:txBody>
      </p:sp>
      <p:pic>
        <p:nvPicPr>
          <p:cNvPr id="57" name="Google Shape;57;p13" title="Screenshot 2025-08-22 190531.png"/>
          <p:cNvPicPr preferRelativeResize="0"/>
          <p:nvPr/>
        </p:nvPicPr>
        <p:blipFill>
          <a:blip r:embed="rId3">
            <a:alphaModFix/>
          </a:blip>
          <a:stretch>
            <a:fillRect/>
          </a:stretch>
        </p:blipFill>
        <p:spPr>
          <a:xfrm>
            <a:off x="3790375" y="3770125"/>
            <a:ext cx="1300925" cy="429575"/>
          </a:xfrm>
          <a:prstGeom prst="rect">
            <a:avLst/>
          </a:prstGeom>
          <a:noFill/>
          <a:ln>
            <a:noFill/>
          </a:ln>
        </p:spPr>
      </p:pic>
      <p:pic>
        <p:nvPicPr>
          <p:cNvPr descr="hand drawn doodle hand holding phone with shopping basket or cart illustration (Provided by Getty Images)" id="58" name="Google Shape;58;p13"/>
          <p:cNvPicPr preferRelativeResize="0"/>
          <p:nvPr/>
        </p:nvPicPr>
        <p:blipFill>
          <a:blip r:embed="rId4">
            <a:alphaModFix/>
          </a:blip>
          <a:stretch>
            <a:fillRect/>
          </a:stretch>
        </p:blipFill>
        <p:spPr>
          <a:xfrm>
            <a:off x="553950" y="424100"/>
            <a:ext cx="1733350" cy="17333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62" name="Shape 62"/>
        <p:cNvGrpSpPr/>
        <p:nvPr/>
      </p:nvGrpSpPr>
      <p:grpSpPr>
        <a:xfrm>
          <a:off x="0" y="0"/>
          <a:ext cx="0" cy="0"/>
          <a:chOff x="0" y="0"/>
          <a:chExt cx="0" cy="0"/>
        </a:xfrm>
      </p:grpSpPr>
      <p:sp>
        <p:nvSpPr>
          <p:cNvPr id="63" name="Google Shape;63;p14"/>
          <p:cNvSpPr txBox="1"/>
          <p:nvPr>
            <p:ph type="title"/>
          </p:nvPr>
        </p:nvSpPr>
        <p:spPr>
          <a:xfrm>
            <a:off x="311700" y="184025"/>
            <a:ext cx="1745700" cy="375000"/>
          </a:xfrm>
          <a:prstGeom prst="rect">
            <a:avLst/>
          </a:prstGeom>
          <a:solidFill>
            <a:srgbClr val="C9DAF8"/>
          </a:solidFill>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64705"/>
              <a:buFont typeface="Arial"/>
              <a:buNone/>
            </a:pPr>
            <a:r>
              <a:rPr b="1" lang="en" sz="1700"/>
              <a:t>INTRODUCTION</a:t>
            </a:r>
            <a:endParaRPr b="1" sz="1700">
              <a:highlight>
                <a:srgbClr val="A2C4C9"/>
              </a:highlight>
            </a:endParaRPr>
          </a:p>
          <a:p>
            <a:pPr indent="0" lvl="0" marL="0" rtl="0" algn="l">
              <a:spcBef>
                <a:spcPts val="400"/>
              </a:spcBef>
              <a:spcAft>
                <a:spcPts val="0"/>
              </a:spcAft>
              <a:buNone/>
            </a:pPr>
            <a:r>
              <a:t/>
            </a:r>
            <a:endParaRPr/>
          </a:p>
        </p:txBody>
      </p:sp>
      <p:sp>
        <p:nvSpPr>
          <p:cNvPr id="64" name="Google Shape;64;p14"/>
          <p:cNvSpPr txBox="1"/>
          <p:nvPr>
            <p:ph idx="1" type="body"/>
          </p:nvPr>
        </p:nvSpPr>
        <p:spPr>
          <a:xfrm>
            <a:off x="311700" y="819925"/>
            <a:ext cx="8520600" cy="3749100"/>
          </a:xfrm>
          <a:prstGeom prst="rect">
            <a:avLst/>
          </a:prstGeom>
          <a:solidFill>
            <a:srgbClr val="D9EAD3"/>
          </a:solidFill>
        </p:spPr>
        <p:txBody>
          <a:bodyPr anchorCtr="0" anchor="t" bIns="91425" lIns="91425" spcFirstLastPara="1" rIns="91425" wrap="square" tIns="91425">
            <a:normAutofit fontScale="62500"/>
          </a:bodyPr>
          <a:lstStyle/>
          <a:p>
            <a:pPr indent="0" lvl="0" marL="0" rtl="0" algn="l">
              <a:spcBef>
                <a:spcPts val="1200"/>
              </a:spcBef>
              <a:spcAft>
                <a:spcPts val="0"/>
              </a:spcAft>
              <a:buClr>
                <a:schemeClr val="dk1"/>
              </a:buClr>
              <a:buSzPct val="45833"/>
              <a:buFont typeface="Arial"/>
              <a:buNone/>
            </a:pPr>
            <a:r>
              <a:rPr lang="en" sz="2400">
                <a:solidFill>
                  <a:schemeClr val="dk1"/>
                </a:solidFill>
                <a:latin typeface="Lato"/>
                <a:ea typeface="Lato"/>
                <a:cs typeface="Lato"/>
                <a:sym typeface="Lato"/>
              </a:rPr>
              <a:t>In today’s competitive e-commerce landscape, understanding customer purchase behavior is critical for online retailers. Millions of visitors browse websites daily, but only a fraction convert into actual buyers. Predicting whether a visitor is likely to make a purchase allows businesses to improve customer experience, personalize marketing strategies, and reduce cart abandonment rates.</a:t>
            </a:r>
            <a:endParaRPr sz="2400">
              <a:solidFill>
                <a:schemeClr val="dk1"/>
              </a:solidFill>
              <a:latin typeface="Lato"/>
              <a:ea typeface="Lato"/>
              <a:cs typeface="Lato"/>
              <a:sym typeface="Lato"/>
            </a:endParaRPr>
          </a:p>
          <a:p>
            <a:pPr indent="0" lvl="0" marL="0" rtl="0" algn="l">
              <a:spcBef>
                <a:spcPts val="1200"/>
              </a:spcBef>
              <a:spcAft>
                <a:spcPts val="0"/>
              </a:spcAft>
              <a:buClr>
                <a:schemeClr val="dk1"/>
              </a:buClr>
              <a:buSzPct val="45833"/>
              <a:buFont typeface="Arial"/>
              <a:buNone/>
            </a:pPr>
            <a:r>
              <a:rPr lang="en" sz="2400">
                <a:solidFill>
                  <a:schemeClr val="dk1"/>
                </a:solidFill>
                <a:latin typeface="Lato"/>
                <a:ea typeface="Lato"/>
                <a:cs typeface="Lato"/>
                <a:sym typeface="Lato"/>
              </a:rPr>
              <a:t>Traditional analytics often fail to capture the complex interactions between user behavior, page visits, bounce rates, and seasonal factors. This project leverages machine learning techniques to predict online shoppers’ purchase intentions based on behavioral and demographic patterns. By analyzing historical browsing sessions, including page categories visited, visit duration, bounce rates, and visitor type, machine learning models can uncover hidden patterns that drive purchase decisions.</a:t>
            </a:r>
            <a:endParaRPr sz="2400">
              <a:solidFill>
                <a:schemeClr val="dk1"/>
              </a:solidFill>
              <a:latin typeface="Lato"/>
              <a:ea typeface="Lato"/>
              <a:cs typeface="Lato"/>
              <a:sym typeface="Lato"/>
            </a:endParaRPr>
          </a:p>
          <a:p>
            <a:pPr indent="0" lvl="0" marL="0" rtl="0" algn="l">
              <a:spcBef>
                <a:spcPts val="1200"/>
              </a:spcBef>
              <a:spcAft>
                <a:spcPts val="0"/>
              </a:spcAft>
              <a:buClr>
                <a:schemeClr val="dk1"/>
              </a:buClr>
              <a:buSzPct val="45833"/>
              <a:buFont typeface="Arial"/>
              <a:buNone/>
            </a:pPr>
            <a:r>
              <a:rPr lang="en" sz="2400">
                <a:solidFill>
                  <a:schemeClr val="dk1"/>
                </a:solidFill>
                <a:latin typeface="Lato"/>
                <a:ea typeface="Lato"/>
                <a:cs typeface="Lato"/>
                <a:sym typeface="Lato"/>
              </a:rPr>
              <a:t>The outcome of this project enables e-commerce companies to identify high-potential customers, implement targeted promotions, and optimize website design for improved conversion rates.</a:t>
            </a:r>
            <a:endParaRPr sz="2400">
              <a:solidFill>
                <a:schemeClr val="dk1"/>
              </a:solidFill>
              <a:latin typeface="Lato"/>
              <a:ea typeface="Lato"/>
              <a:cs typeface="Lato"/>
              <a:sym typeface="Lato"/>
            </a:endParaRPr>
          </a:p>
          <a:p>
            <a:pPr indent="0" lvl="0" marL="0" rtl="0" algn="l">
              <a:spcBef>
                <a:spcPts val="1200"/>
              </a:spcBef>
              <a:spcAft>
                <a:spcPts val="1200"/>
              </a:spcAft>
              <a:buNone/>
            </a:pPr>
            <a:r>
              <a:t/>
            </a:r>
            <a:endParaRPr>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68" name="Shape 68"/>
        <p:cNvGrpSpPr/>
        <p:nvPr/>
      </p:nvGrpSpPr>
      <p:grpSpPr>
        <a:xfrm>
          <a:off x="0" y="0"/>
          <a:ext cx="0" cy="0"/>
          <a:chOff x="0" y="0"/>
          <a:chExt cx="0" cy="0"/>
        </a:xfrm>
      </p:grpSpPr>
      <p:sp>
        <p:nvSpPr>
          <p:cNvPr id="69" name="Google Shape;69;p15"/>
          <p:cNvSpPr txBox="1"/>
          <p:nvPr>
            <p:ph type="title"/>
          </p:nvPr>
        </p:nvSpPr>
        <p:spPr>
          <a:xfrm>
            <a:off x="409575" y="151400"/>
            <a:ext cx="1756500" cy="468300"/>
          </a:xfrm>
          <a:prstGeom prst="rect">
            <a:avLst/>
          </a:prstGeom>
          <a:solidFill>
            <a:srgbClr val="C9DAF8"/>
          </a:solidFill>
        </p:spPr>
        <p:txBody>
          <a:bodyPr anchorCtr="0" anchor="t" bIns="91425" lIns="91425" spcFirstLastPara="1" rIns="91425" wrap="square" tIns="91425">
            <a:normAutofit fontScale="90000"/>
          </a:bodyPr>
          <a:lstStyle/>
          <a:p>
            <a:pPr indent="0" lvl="0" marL="0" rtl="0" algn="l">
              <a:lnSpc>
                <a:spcPct val="115000"/>
              </a:lnSpc>
              <a:spcBef>
                <a:spcPts val="1800"/>
              </a:spcBef>
              <a:spcAft>
                <a:spcPts val="0"/>
              </a:spcAft>
              <a:buClr>
                <a:schemeClr val="dk1"/>
              </a:buClr>
              <a:buSzPct val="64705"/>
              <a:buFont typeface="Arial"/>
              <a:buNone/>
            </a:pPr>
            <a:r>
              <a:rPr b="1" lang="en" sz="1700"/>
              <a:t>ABSTRACT</a:t>
            </a:r>
            <a:endParaRPr b="1" sz="1700"/>
          </a:p>
          <a:p>
            <a:pPr indent="0" lvl="0" marL="0" rtl="0" algn="l">
              <a:spcBef>
                <a:spcPts val="400"/>
              </a:spcBef>
              <a:spcAft>
                <a:spcPts val="0"/>
              </a:spcAft>
              <a:buNone/>
            </a:pPr>
            <a:r>
              <a:t/>
            </a:r>
            <a:endParaRPr/>
          </a:p>
        </p:txBody>
      </p:sp>
      <p:sp>
        <p:nvSpPr>
          <p:cNvPr id="70" name="Google Shape;70;p15"/>
          <p:cNvSpPr txBox="1"/>
          <p:nvPr>
            <p:ph idx="1" type="body"/>
          </p:nvPr>
        </p:nvSpPr>
        <p:spPr>
          <a:xfrm>
            <a:off x="311700" y="695825"/>
            <a:ext cx="8520600" cy="3984300"/>
          </a:xfrm>
          <a:prstGeom prst="rect">
            <a:avLst/>
          </a:prstGeom>
          <a:solidFill>
            <a:srgbClr val="D9EAD3"/>
          </a:solidFill>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This project aims to develop an Online Shoppers Purchase Intention Predictive Model using machine learning techniques. The primary goal is to analyze how visitors interact with an e-commerce website and predict whether a user will complete a purchase (Revenue = 1) or not (Revenue = 0).</a:t>
            </a: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The dataset consists of user session data such as administrative, informational, and product-related page visits, session duration, bounce/exit rates, page values, visitor type, month of visit, and weekend indicators. The dependent variable is Revenue, while the independent variables include session-based behavioral and categorical attributes.</a:t>
            </a: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We applied multiple classification algorithms — Logistic Regression, K-Nearest Neighbors (KNN), Decision Tree, and Random Forest — with preprocessing steps such as encoding categorical data, feature scaling, and hyperparameter tuning using GridSearchCV.</a:t>
            </a: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Among all models, Random Forest delivered the highest accuracy (~89–92%), making it the most reliable in predicting customer purchase behavior. The findings offer actionable insights for e-commerce stakeholders to increase conversions, </a:t>
            </a:r>
            <a:r>
              <a:rPr lang="en" sz="1400">
                <a:solidFill>
                  <a:schemeClr val="dk1"/>
                </a:solidFill>
                <a:latin typeface="Lato"/>
                <a:ea typeface="Lato"/>
                <a:cs typeface="Lato"/>
                <a:sym typeface="Lato"/>
              </a:rPr>
              <a:t>personalized</a:t>
            </a:r>
            <a:r>
              <a:rPr lang="en" sz="1400">
                <a:solidFill>
                  <a:schemeClr val="dk1"/>
                </a:solidFill>
                <a:latin typeface="Lato"/>
                <a:ea typeface="Lato"/>
                <a:cs typeface="Lato"/>
                <a:sym typeface="Lato"/>
              </a:rPr>
              <a:t> shopping experiences, and allocate marketing resources more effectively.</a:t>
            </a:r>
            <a:endParaRPr sz="1400">
              <a:solidFill>
                <a:schemeClr val="dk1"/>
              </a:solidFill>
              <a:latin typeface="Lato"/>
              <a:ea typeface="Lato"/>
              <a:cs typeface="Lato"/>
              <a:sym typeface="Lato"/>
            </a:endParaRPr>
          </a:p>
          <a:p>
            <a:pPr indent="0" lvl="0" marL="0" rtl="0" algn="l">
              <a:spcBef>
                <a:spcPts val="1200"/>
              </a:spcBef>
              <a:spcAft>
                <a:spcPts val="1200"/>
              </a:spcAft>
              <a:buNone/>
            </a:pPr>
            <a:r>
              <a:t/>
            </a:r>
            <a:endParaRPr sz="1400">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74" name="Shape 74"/>
        <p:cNvGrpSpPr/>
        <p:nvPr/>
      </p:nvGrpSpPr>
      <p:grpSpPr>
        <a:xfrm>
          <a:off x="0" y="0"/>
          <a:ext cx="0" cy="0"/>
          <a:chOff x="0" y="0"/>
          <a:chExt cx="0" cy="0"/>
        </a:xfrm>
      </p:grpSpPr>
      <p:sp>
        <p:nvSpPr>
          <p:cNvPr id="75" name="Google Shape;75;p16"/>
          <p:cNvSpPr txBox="1"/>
          <p:nvPr>
            <p:ph type="title"/>
          </p:nvPr>
        </p:nvSpPr>
        <p:spPr>
          <a:xfrm>
            <a:off x="453075" y="162300"/>
            <a:ext cx="1517400" cy="472800"/>
          </a:xfrm>
          <a:prstGeom prst="rect">
            <a:avLst/>
          </a:prstGeom>
          <a:solidFill>
            <a:srgbClr val="C9DAF8"/>
          </a:solidFill>
        </p:spPr>
        <p:txBody>
          <a:bodyPr anchorCtr="0" anchor="t" bIns="91425" lIns="91425" spcFirstLastPara="1" rIns="91425" wrap="square" tIns="91425">
            <a:normAutofit/>
          </a:bodyPr>
          <a:lstStyle/>
          <a:p>
            <a:pPr indent="0" lvl="0" marL="0" rtl="0" algn="l">
              <a:lnSpc>
                <a:spcPct val="115000"/>
              </a:lnSpc>
              <a:spcBef>
                <a:spcPts val="1800"/>
              </a:spcBef>
              <a:spcAft>
                <a:spcPts val="400"/>
              </a:spcAft>
              <a:buClr>
                <a:schemeClr val="dk1"/>
              </a:buClr>
              <a:buSzPts val="1100"/>
              <a:buFont typeface="Arial"/>
              <a:buNone/>
            </a:pPr>
            <a:r>
              <a:rPr b="1" lang="en" sz="1700"/>
              <a:t>OBJECTIVE</a:t>
            </a:r>
            <a:endParaRPr/>
          </a:p>
        </p:txBody>
      </p:sp>
      <p:sp>
        <p:nvSpPr>
          <p:cNvPr id="76" name="Google Shape;76;p16"/>
          <p:cNvSpPr txBox="1"/>
          <p:nvPr>
            <p:ph idx="1" type="body"/>
          </p:nvPr>
        </p:nvSpPr>
        <p:spPr>
          <a:xfrm>
            <a:off x="376950" y="782750"/>
            <a:ext cx="8520600" cy="4360800"/>
          </a:xfrm>
          <a:prstGeom prst="rect">
            <a:avLst/>
          </a:prstGeom>
          <a:solidFill>
            <a:srgbClr val="D9EAD3"/>
          </a:solidFill>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To develop a Purchase Intention Predictive Analysis Model using machine learning for e-commerce websites.</a:t>
            </a: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Specific objectives include:</a:t>
            </a:r>
            <a:endParaRPr sz="1400">
              <a:solidFill>
                <a:schemeClr val="dk1"/>
              </a:solidFill>
              <a:latin typeface="Lato"/>
              <a:ea typeface="Lato"/>
              <a:cs typeface="Lato"/>
              <a:sym typeface="Lato"/>
            </a:endParaRPr>
          </a:p>
          <a:p>
            <a:pPr indent="-317500" lvl="0" marL="457200" rtl="0" algn="l">
              <a:spcBef>
                <a:spcPts val="1200"/>
              </a:spcBef>
              <a:spcAft>
                <a:spcPts val="0"/>
              </a:spcAft>
              <a:buClr>
                <a:schemeClr val="dk1"/>
              </a:buClr>
              <a:buSzPts val="1400"/>
              <a:buFont typeface="Lato"/>
              <a:buChar char="●"/>
            </a:pPr>
            <a:r>
              <a:rPr lang="en" sz="1400">
                <a:solidFill>
                  <a:schemeClr val="dk1"/>
                </a:solidFill>
                <a:latin typeface="Lato"/>
                <a:ea typeface="Lato"/>
                <a:cs typeface="Lato"/>
                <a:sym typeface="Lato"/>
              </a:rPr>
              <a:t>Develop an Optimized Machine Learning Model:</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Implement and fine-tune classification algorithms (Logistic Regression, Decision Tree, Random Forest, KNN).</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Char char="○"/>
            </a:pPr>
            <a:r>
              <a:rPr lang="en">
                <a:solidFill>
                  <a:schemeClr val="dk1"/>
                </a:solidFill>
                <a:latin typeface="Lato"/>
                <a:ea typeface="Lato"/>
                <a:cs typeface="Lato"/>
                <a:sym typeface="Lato"/>
              </a:rPr>
              <a:t>Apply hyperparameter tuning using GridSearchCV to improve predictive performance.</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Evaluate model performance using accuracy, precision, recall, F1-score, and ROC-AUC.</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spcBef>
                <a:spcPts val="1200"/>
              </a:spcBef>
              <a:spcAft>
                <a:spcPts val="1200"/>
              </a:spcAft>
              <a:buNone/>
            </a:pPr>
            <a:r>
              <a:t/>
            </a:r>
            <a:endParaRPr sz="1400">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0" name="Shape 80"/>
        <p:cNvGrpSpPr/>
        <p:nvPr/>
      </p:nvGrpSpPr>
      <p:grpSpPr>
        <a:xfrm>
          <a:off x="0" y="0"/>
          <a:ext cx="0" cy="0"/>
          <a:chOff x="0" y="0"/>
          <a:chExt cx="0" cy="0"/>
        </a:xfrm>
      </p:grpSpPr>
      <p:sp>
        <p:nvSpPr>
          <p:cNvPr id="81" name="Google Shape;81;p17"/>
          <p:cNvSpPr txBox="1"/>
          <p:nvPr/>
        </p:nvSpPr>
        <p:spPr>
          <a:xfrm>
            <a:off x="422400" y="521950"/>
            <a:ext cx="8299200" cy="4365300"/>
          </a:xfrm>
          <a:prstGeom prst="rect">
            <a:avLst/>
          </a:prstGeom>
          <a:solidFill>
            <a:srgbClr val="D9EAD3"/>
          </a:solidFill>
          <a:ln>
            <a:noFill/>
          </a:ln>
        </p:spPr>
        <p:txBody>
          <a:bodyPr anchorCtr="0" anchor="t" bIns="91425" lIns="91425" spcFirstLastPara="1" rIns="91425" wrap="square" tIns="91425">
            <a:spAutoFit/>
          </a:bodyPr>
          <a:lstStyle/>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Feature Importance &amp; Impact Analysis: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Identify key behavioral features affecting purchase intent (</a:t>
            </a:r>
            <a:r>
              <a:rPr lang="en">
                <a:solidFill>
                  <a:schemeClr val="dk1"/>
                </a:solidFill>
                <a:latin typeface="Lato"/>
                <a:ea typeface="Lato"/>
                <a:cs typeface="Lato"/>
                <a:sym typeface="Lato"/>
              </a:rPr>
              <a:t>Product Related</a:t>
            </a:r>
            <a:r>
              <a:rPr lang="en">
                <a:solidFill>
                  <a:schemeClr val="dk1"/>
                </a:solidFill>
                <a:latin typeface="Lato"/>
                <a:ea typeface="Lato"/>
                <a:cs typeface="Lato"/>
                <a:sym typeface="Lato"/>
              </a:rPr>
              <a:t> pages, </a:t>
            </a:r>
            <a:r>
              <a:rPr lang="en">
                <a:solidFill>
                  <a:schemeClr val="dk1"/>
                </a:solidFill>
                <a:latin typeface="Lato"/>
                <a:ea typeface="Lato"/>
                <a:cs typeface="Lato"/>
                <a:sym typeface="Lato"/>
              </a:rPr>
              <a:t>Page Values</a:t>
            </a:r>
            <a:r>
              <a:rPr lang="en">
                <a:solidFill>
                  <a:schemeClr val="dk1"/>
                </a:solidFill>
                <a:latin typeface="Lato"/>
                <a:ea typeface="Lato"/>
                <a:cs typeface="Lato"/>
                <a:sym typeface="Lato"/>
              </a:rPr>
              <a:t>, ExitRates, etc.).</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Analyze how factors like visitor type (Returning vs New) and seasonal trends (Month, Weekend) influence conversions.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Predictive Insights for Stakeholders: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Enable businesses to recognize high-intent buyers in real time.</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Provide actionable strategies to reduce bounce rates and increase engagement.</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Support decision-making for targeted marketing campaigns and personalized recommendations.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85" name="Shape 85"/>
        <p:cNvGrpSpPr/>
        <p:nvPr/>
      </p:nvGrpSpPr>
      <p:grpSpPr>
        <a:xfrm>
          <a:off x="0" y="0"/>
          <a:ext cx="0" cy="0"/>
          <a:chOff x="0" y="0"/>
          <a:chExt cx="0" cy="0"/>
        </a:xfrm>
      </p:grpSpPr>
      <p:sp>
        <p:nvSpPr>
          <p:cNvPr id="86" name="Google Shape;86;p18"/>
          <p:cNvSpPr txBox="1"/>
          <p:nvPr>
            <p:ph type="title"/>
          </p:nvPr>
        </p:nvSpPr>
        <p:spPr>
          <a:xfrm>
            <a:off x="311700" y="118800"/>
            <a:ext cx="3561600" cy="429300"/>
          </a:xfrm>
          <a:prstGeom prst="rect">
            <a:avLst/>
          </a:prstGeom>
          <a:solidFill>
            <a:srgbClr val="C9DAF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1800"/>
              <a:t>DATA ANALYSIS PROCEDURE</a:t>
            </a:r>
            <a:endParaRPr b="1" sz="1800"/>
          </a:p>
        </p:txBody>
      </p:sp>
      <p:sp>
        <p:nvSpPr>
          <p:cNvPr id="87" name="Google Shape;87;p18"/>
          <p:cNvSpPr txBox="1"/>
          <p:nvPr>
            <p:ph idx="1" type="body"/>
          </p:nvPr>
        </p:nvSpPr>
        <p:spPr>
          <a:xfrm>
            <a:off x="311700" y="669750"/>
            <a:ext cx="8520600" cy="4260600"/>
          </a:xfrm>
          <a:prstGeom prst="rect">
            <a:avLst/>
          </a:prstGeom>
          <a:solidFill>
            <a:srgbClr val="D9EAD3"/>
          </a:solidFill>
        </p:spPr>
        <p:txBody>
          <a:bodyPr anchorCtr="0" anchor="t" bIns="91425" lIns="91425" spcFirstLastPara="1" rIns="91425" wrap="square" tIns="91425">
            <a:noAutofit/>
          </a:bodyPr>
          <a:lstStyle/>
          <a:p>
            <a:pPr indent="-317500" lvl="0" marL="457200" rtl="0" algn="l">
              <a:spcBef>
                <a:spcPts val="1200"/>
              </a:spcBef>
              <a:spcAft>
                <a:spcPts val="0"/>
              </a:spcAft>
              <a:buClr>
                <a:schemeClr val="dk1"/>
              </a:buClr>
              <a:buSzPts val="1400"/>
              <a:buAutoNum type="arabicPeriod"/>
            </a:pPr>
            <a:r>
              <a:rPr b="1" lang="en" sz="1400">
                <a:solidFill>
                  <a:schemeClr val="dk1"/>
                </a:solidFill>
              </a:rPr>
              <a:t>Import Essential Libraries</a:t>
            </a:r>
            <a:br>
              <a:rPr b="1" lang="en" sz="1400">
                <a:solidFill>
                  <a:schemeClr val="dk1"/>
                </a:solidFill>
              </a:rPr>
            </a:br>
            <a:endParaRPr b="1"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Pandas, NumPy for data handling.</a:t>
            </a:r>
            <a:br>
              <a:rPr lang="en">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Matplotlib, Seaborn for visualization.</a:t>
            </a:r>
            <a:br>
              <a:rPr lang="en">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Scikit-learn for machine learning models and evaluation.</a:t>
            </a:r>
            <a:br>
              <a:rPr lang="en">
                <a:solidFill>
                  <a:schemeClr val="dk1"/>
                </a:solidFill>
              </a:rPr>
            </a:br>
            <a:endParaRPr>
              <a:solidFill>
                <a:schemeClr val="dk1"/>
              </a:solidFill>
            </a:endParaRPr>
          </a:p>
          <a:p>
            <a:pPr indent="-317500" lvl="0" marL="457200" rtl="0" algn="l">
              <a:spcBef>
                <a:spcPts val="0"/>
              </a:spcBef>
              <a:spcAft>
                <a:spcPts val="0"/>
              </a:spcAft>
              <a:buClr>
                <a:schemeClr val="dk1"/>
              </a:buClr>
              <a:buSzPts val="1400"/>
              <a:buAutoNum type="arabicPeriod"/>
            </a:pPr>
            <a:r>
              <a:rPr b="1" lang="en" sz="1400">
                <a:solidFill>
                  <a:schemeClr val="dk1"/>
                </a:solidFill>
              </a:rPr>
              <a:t>Load the Data</a:t>
            </a:r>
            <a:br>
              <a:rPr b="1" lang="en" sz="1400">
                <a:solidFill>
                  <a:schemeClr val="dk1"/>
                </a:solidFill>
              </a:rPr>
            </a:br>
            <a:endParaRPr b="1" sz="1400">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Read the dataset using </a:t>
            </a:r>
            <a:r>
              <a:rPr lang="en">
                <a:solidFill>
                  <a:srgbClr val="188038"/>
                </a:solidFill>
                <a:latin typeface="Roboto Mono"/>
                <a:ea typeface="Roboto Mono"/>
                <a:cs typeface="Roboto Mono"/>
                <a:sym typeface="Roboto Mono"/>
              </a:rPr>
              <a:t>pandas.read_csv()</a:t>
            </a:r>
            <a:r>
              <a:rPr lang="en">
                <a:solidFill>
                  <a:schemeClr val="dk1"/>
                </a:solidFill>
              </a:rPr>
              <a:t>.</a:t>
            </a:r>
            <a:br>
              <a:rPr lang="en">
                <a:solidFill>
                  <a:schemeClr val="dk1"/>
                </a:solidFill>
              </a:rPr>
            </a:br>
            <a:endParaRPr>
              <a:solidFill>
                <a:schemeClr val="dk1"/>
              </a:solidFill>
            </a:endParaRPr>
          </a:p>
          <a:p>
            <a:pPr indent="-317500" lvl="1" marL="914400" rtl="0" algn="l">
              <a:spcBef>
                <a:spcPts val="0"/>
              </a:spcBef>
              <a:spcAft>
                <a:spcPts val="0"/>
              </a:spcAft>
              <a:buClr>
                <a:schemeClr val="dk1"/>
              </a:buClr>
              <a:buSzPts val="1400"/>
              <a:buChar char="○"/>
            </a:pPr>
            <a:r>
              <a:rPr lang="en">
                <a:solidFill>
                  <a:schemeClr val="dk1"/>
                </a:solidFill>
              </a:rPr>
              <a:t>Display structure using </a:t>
            </a:r>
            <a:r>
              <a:rPr lang="en">
                <a:solidFill>
                  <a:srgbClr val="188038"/>
                </a:solidFill>
                <a:latin typeface="Roboto Mono"/>
                <a:ea typeface="Roboto Mono"/>
                <a:cs typeface="Roboto Mono"/>
                <a:sym typeface="Roboto Mono"/>
              </a:rPr>
              <a:t>.info()</a:t>
            </a:r>
            <a:r>
              <a:rPr lang="en">
                <a:solidFill>
                  <a:schemeClr val="dk1"/>
                </a:solidFill>
              </a:rPr>
              <a:t>, </a:t>
            </a:r>
            <a:r>
              <a:rPr lang="en">
                <a:solidFill>
                  <a:srgbClr val="188038"/>
                </a:solidFill>
                <a:latin typeface="Roboto Mono"/>
                <a:ea typeface="Roboto Mono"/>
                <a:cs typeface="Roboto Mono"/>
                <a:sym typeface="Roboto Mono"/>
              </a:rPr>
              <a:t>.head()</a:t>
            </a:r>
            <a:r>
              <a:rPr lang="en">
                <a:solidFill>
                  <a:schemeClr val="dk1"/>
                </a:solidFill>
              </a:rPr>
              <a:t>, </a:t>
            </a:r>
            <a:r>
              <a:rPr lang="en">
                <a:solidFill>
                  <a:srgbClr val="188038"/>
                </a:solidFill>
                <a:latin typeface="Roboto Mono"/>
                <a:ea typeface="Roboto Mono"/>
                <a:cs typeface="Roboto Mono"/>
                <a:sym typeface="Roboto Mono"/>
              </a:rPr>
              <a:t>.describe()</a:t>
            </a:r>
            <a:r>
              <a:rPr lang="en">
                <a:solidFill>
                  <a:schemeClr val="dk1"/>
                </a:solidFill>
              </a:rPr>
              <a:t>.</a:t>
            </a:r>
            <a:br>
              <a:rPr lang="en">
                <a:solidFill>
                  <a:schemeClr val="dk1"/>
                </a:solidFill>
              </a:rPr>
            </a:br>
            <a:endParaRPr>
              <a:solidFill>
                <a:schemeClr val="dk1"/>
              </a:solidFill>
            </a:endParaRPr>
          </a:p>
          <a:p>
            <a:pPr indent="0" lvl="0" marL="0" rtl="0" algn="l">
              <a:spcBef>
                <a:spcPts val="1200"/>
              </a:spcBef>
              <a:spcAft>
                <a:spcPts val="1200"/>
              </a:spcAft>
              <a:buNone/>
            </a:pPr>
            <a:r>
              <a:t/>
            </a:r>
            <a:endParaRPr sz="1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91" name="Shape 91"/>
        <p:cNvGrpSpPr/>
        <p:nvPr/>
      </p:nvGrpSpPr>
      <p:grpSpPr>
        <a:xfrm>
          <a:off x="0" y="0"/>
          <a:ext cx="0" cy="0"/>
          <a:chOff x="0" y="0"/>
          <a:chExt cx="0" cy="0"/>
        </a:xfrm>
      </p:grpSpPr>
      <p:sp>
        <p:nvSpPr>
          <p:cNvPr id="92" name="Google Shape;92;p19"/>
          <p:cNvSpPr txBox="1"/>
          <p:nvPr/>
        </p:nvSpPr>
        <p:spPr>
          <a:xfrm>
            <a:off x="0" y="0"/>
            <a:ext cx="8995200" cy="5064000"/>
          </a:xfrm>
          <a:prstGeom prst="rect">
            <a:avLst/>
          </a:prstGeom>
          <a:solidFill>
            <a:srgbClr val="D9EAD3"/>
          </a:solid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en" sz="1200">
                <a:solidFill>
                  <a:schemeClr val="dk1"/>
                </a:solidFill>
              </a:rPr>
              <a:t>3.</a:t>
            </a:r>
            <a:r>
              <a:rPr b="1" lang="en" sz="1200">
                <a:solidFill>
                  <a:schemeClr val="dk1"/>
                </a:solidFill>
              </a:rPr>
              <a:t>Check for Missing Values and Clean Data</a:t>
            </a:r>
            <a:br>
              <a:rPr b="1" lang="en" sz="1200">
                <a:solidFill>
                  <a:schemeClr val="dk1"/>
                </a:solidFill>
              </a:rPr>
            </a:br>
            <a:endParaRPr b="1" sz="1200">
              <a:solidFill>
                <a:schemeClr val="dk1"/>
              </a:solidFill>
            </a:endParaRPr>
          </a:p>
          <a:p>
            <a:pPr indent="-304800" lvl="1" marL="914400" rtl="0" algn="l">
              <a:lnSpc>
                <a:spcPct val="115000"/>
              </a:lnSpc>
              <a:spcBef>
                <a:spcPts val="1200"/>
              </a:spcBef>
              <a:spcAft>
                <a:spcPts val="0"/>
              </a:spcAft>
              <a:buClr>
                <a:schemeClr val="dk1"/>
              </a:buClr>
              <a:buSzPts val="1200"/>
              <a:buChar char="○"/>
            </a:pPr>
            <a:r>
              <a:rPr lang="en" sz="1200">
                <a:solidFill>
                  <a:schemeClr val="dk1"/>
                </a:solidFill>
              </a:rPr>
              <a:t>Use </a:t>
            </a:r>
            <a:r>
              <a:rPr lang="en" sz="1200">
                <a:solidFill>
                  <a:srgbClr val="188038"/>
                </a:solidFill>
                <a:latin typeface="Roboto Mono"/>
                <a:ea typeface="Roboto Mono"/>
                <a:cs typeface="Roboto Mono"/>
                <a:sym typeface="Roboto Mono"/>
              </a:rPr>
              <a:t>.isnull().sum()</a:t>
            </a:r>
            <a:r>
              <a:rPr lang="en" sz="1200">
                <a:solidFill>
                  <a:schemeClr val="dk1"/>
                </a:solidFill>
              </a:rPr>
              <a:t> to detect missing values.</a:t>
            </a:r>
            <a:br>
              <a:rPr lang="en" sz="1200">
                <a:solidFill>
                  <a:schemeClr val="dk1"/>
                </a:solidFill>
              </a:rPr>
            </a:b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Handle missing values appropriately (if any).</a:t>
            </a:r>
            <a:br>
              <a:rPr lang="en" sz="1200">
                <a:solidFill>
                  <a:schemeClr val="dk1"/>
                </a:solidFill>
              </a:rPr>
            </a:br>
            <a:endParaRPr sz="1200">
              <a:solidFill>
                <a:schemeClr val="dk1"/>
              </a:solidFill>
            </a:endParaRPr>
          </a:p>
          <a:p>
            <a:pPr indent="0" lvl="0" marL="457200" rtl="0" algn="l">
              <a:lnSpc>
                <a:spcPct val="115000"/>
              </a:lnSpc>
              <a:spcBef>
                <a:spcPts val="1200"/>
              </a:spcBef>
              <a:spcAft>
                <a:spcPts val="0"/>
              </a:spcAft>
              <a:buNone/>
            </a:pPr>
            <a:r>
              <a:rPr b="1" lang="en" sz="1200">
                <a:solidFill>
                  <a:schemeClr val="dk1"/>
                </a:solidFill>
              </a:rPr>
              <a:t>4.</a:t>
            </a:r>
            <a:r>
              <a:rPr b="1" lang="en" sz="1200">
                <a:solidFill>
                  <a:schemeClr val="dk1"/>
                </a:solidFill>
              </a:rPr>
              <a:t>Explore and Visualize Data</a:t>
            </a:r>
            <a:br>
              <a:rPr b="1" lang="en" sz="1200">
                <a:solidFill>
                  <a:schemeClr val="dk1"/>
                </a:solidFill>
              </a:rPr>
            </a:br>
            <a:endParaRPr b="1" sz="1200">
              <a:solidFill>
                <a:schemeClr val="dk1"/>
              </a:solidFill>
            </a:endParaRPr>
          </a:p>
          <a:p>
            <a:pPr indent="-304800" lvl="1" marL="914400" rtl="0" algn="l">
              <a:lnSpc>
                <a:spcPct val="115000"/>
              </a:lnSpc>
              <a:spcBef>
                <a:spcPts val="1200"/>
              </a:spcBef>
              <a:spcAft>
                <a:spcPts val="0"/>
              </a:spcAft>
              <a:buClr>
                <a:schemeClr val="dk1"/>
              </a:buClr>
              <a:buSzPts val="1200"/>
              <a:buChar char="○"/>
            </a:pPr>
            <a:r>
              <a:rPr lang="en" sz="1200">
                <a:solidFill>
                  <a:schemeClr val="dk1"/>
                </a:solidFill>
              </a:rPr>
              <a:t>Analyze distribution of categorical features (</a:t>
            </a:r>
            <a:r>
              <a:rPr lang="en" sz="1200">
                <a:solidFill>
                  <a:schemeClr val="dk1"/>
                </a:solidFill>
              </a:rPr>
              <a:t>Visitor Type</a:t>
            </a:r>
            <a:r>
              <a:rPr lang="en" sz="1200">
                <a:solidFill>
                  <a:schemeClr val="dk1"/>
                </a:solidFill>
              </a:rPr>
              <a:t>, Month, Weekend).</a:t>
            </a:r>
            <a:br>
              <a:rPr lang="en" sz="1200">
                <a:solidFill>
                  <a:schemeClr val="dk1"/>
                </a:solidFill>
              </a:rPr>
            </a:br>
            <a:endParaRPr sz="1200">
              <a:solidFill>
                <a:schemeClr val="dk1"/>
              </a:solidFill>
            </a:endParaRPr>
          </a:p>
          <a:p>
            <a:pPr indent="-304800" lvl="1" marL="914400" rtl="0" algn="l">
              <a:lnSpc>
                <a:spcPct val="115000"/>
              </a:lnSpc>
              <a:spcBef>
                <a:spcPts val="0"/>
              </a:spcBef>
              <a:spcAft>
                <a:spcPts val="0"/>
              </a:spcAft>
              <a:buClr>
                <a:schemeClr val="dk1"/>
              </a:buClr>
              <a:buSzPts val="1200"/>
              <a:buChar char="○"/>
            </a:pPr>
            <a:r>
              <a:rPr lang="en" sz="1200">
                <a:solidFill>
                  <a:schemeClr val="dk1"/>
                </a:solidFill>
              </a:rPr>
              <a:t>Plot histograms, </a:t>
            </a:r>
            <a:r>
              <a:rPr lang="en" sz="1200">
                <a:solidFill>
                  <a:schemeClr val="dk1"/>
                </a:solidFill>
              </a:rPr>
              <a:t>box plots</a:t>
            </a:r>
            <a:r>
              <a:rPr lang="en" sz="1200">
                <a:solidFill>
                  <a:schemeClr val="dk1"/>
                </a:solidFill>
              </a:rPr>
              <a:t>, and heatmaps to understand correlations.</a:t>
            </a:r>
            <a:br>
              <a:rPr lang="en" sz="1200">
                <a:solidFill>
                  <a:schemeClr val="dk1"/>
                </a:solidFill>
              </a:rPr>
            </a:br>
            <a:endParaRPr sz="1200">
              <a:solidFill>
                <a:schemeClr val="dk1"/>
              </a:solidFill>
            </a:endParaRPr>
          </a:p>
          <a:p>
            <a:pPr indent="0" lvl="0" marL="457200" rtl="0" algn="l">
              <a:lnSpc>
                <a:spcPct val="115000"/>
              </a:lnSpc>
              <a:spcBef>
                <a:spcPts val="1200"/>
              </a:spcBef>
              <a:spcAft>
                <a:spcPts val="0"/>
              </a:spcAft>
              <a:buNone/>
            </a:pPr>
            <a:r>
              <a:rPr b="1" lang="en" sz="1200">
                <a:solidFill>
                  <a:schemeClr val="dk1"/>
                </a:solidFill>
              </a:rPr>
              <a:t>5.</a:t>
            </a:r>
            <a:r>
              <a:rPr b="1" lang="en" sz="1200">
                <a:solidFill>
                  <a:schemeClr val="dk1"/>
                </a:solidFill>
              </a:rPr>
              <a:t>Assign Dependent and Independent Variables</a:t>
            </a:r>
            <a:br>
              <a:rPr b="1" lang="en" sz="1200">
                <a:solidFill>
                  <a:schemeClr val="dk1"/>
                </a:solidFill>
              </a:rPr>
            </a:br>
            <a:endParaRPr b="1" sz="1200">
              <a:solidFill>
                <a:schemeClr val="dk1"/>
              </a:solidFill>
            </a:endParaRPr>
          </a:p>
          <a:p>
            <a:pPr indent="-304800" lvl="1" marL="914400" rtl="0" algn="l">
              <a:lnSpc>
                <a:spcPct val="115000"/>
              </a:lnSpc>
              <a:spcBef>
                <a:spcPts val="1200"/>
              </a:spcBef>
              <a:spcAft>
                <a:spcPts val="0"/>
              </a:spcAft>
              <a:buClr>
                <a:schemeClr val="dk1"/>
              </a:buClr>
              <a:buSzPts val="1200"/>
              <a:buChar char="○"/>
            </a:pPr>
            <a:r>
              <a:rPr b="1" lang="en" sz="1200">
                <a:solidFill>
                  <a:schemeClr val="dk1"/>
                </a:solidFill>
              </a:rPr>
              <a:t>Dependent Variable:</a:t>
            </a:r>
            <a:r>
              <a:rPr lang="en" sz="1200">
                <a:solidFill>
                  <a:schemeClr val="dk1"/>
                </a:solidFill>
              </a:rPr>
              <a:t> Revenue (Purchase: Yes/No).</a:t>
            </a:r>
            <a:br>
              <a:rPr lang="en" sz="1200">
                <a:solidFill>
                  <a:schemeClr val="dk1"/>
                </a:solidFill>
              </a:rPr>
            </a:br>
            <a:endParaRPr sz="1200">
              <a:solidFill>
                <a:schemeClr val="dk1"/>
              </a:solidFill>
            </a:endParaRPr>
          </a:p>
          <a:p>
            <a:pPr indent="-317500" lvl="1" marL="914400" rtl="0" algn="l">
              <a:lnSpc>
                <a:spcPct val="115000"/>
              </a:lnSpc>
              <a:spcBef>
                <a:spcPts val="0"/>
              </a:spcBef>
              <a:spcAft>
                <a:spcPts val="0"/>
              </a:spcAft>
              <a:buClr>
                <a:schemeClr val="dk1"/>
              </a:buClr>
              <a:buSzPts val="1400"/>
              <a:buChar char="○"/>
            </a:pPr>
            <a:r>
              <a:rPr b="1" lang="en" sz="1200">
                <a:solidFill>
                  <a:schemeClr val="dk1"/>
                </a:solidFill>
              </a:rPr>
              <a:t>Independent Variables:</a:t>
            </a:r>
            <a:r>
              <a:rPr lang="en" sz="1200">
                <a:solidFill>
                  <a:schemeClr val="dk1"/>
                </a:solidFill>
              </a:rPr>
              <a:t> Page visit counts, </a:t>
            </a:r>
            <a:r>
              <a:rPr lang="en" sz="1200">
                <a:solidFill>
                  <a:schemeClr val="dk1"/>
                </a:solidFill>
              </a:rPr>
              <a:t>Bounce Rates</a:t>
            </a:r>
            <a:r>
              <a:rPr lang="en" sz="1200">
                <a:solidFill>
                  <a:schemeClr val="dk1"/>
                </a:solidFill>
              </a:rPr>
              <a:t>, ExitRates, </a:t>
            </a:r>
            <a:r>
              <a:rPr lang="en" sz="1200">
                <a:solidFill>
                  <a:schemeClr val="dk1"/>
                </a:solidFill>
              </a:rPr>
              <a:t>Page Values</a:t>
            </a:r>
            <a:r>
              <a:rPr lang="en" sz="1200">
                <a:solidFill>
                  <a:schemeClr val="dk1"/>
                </a:solidFill>
              </a:rPr>
              <a:t>, Month, </a:t>
            </a:r>
            <a:r>
              <a:rPr lang="en" sz="1200">
                <a:solidFill>
                  <a:schemeClr val="dk1"/>
                </a:solidFill>
              </a:rPr>
              <a:t>Visitor Type</a:t>
            </a:r>
            <a:r>
              <a:rPr lang="en" sz="1200">
                <a:solidFill>
                  <a:schemeClr val="dk1"/>
                </a:solidFill>
              </a:rPr>
              <a:t>, Weekend.</a:t>
            </a:r>
            <a:br>
              <a:rPr lang="en">
                <a:solidFill>
                  <a:schemeClr val="dk1"/>
                </a:solidFill>
              </a:rPr>
            </a:br>
            <a:br>
              <a:rPr lang="en">
                <a:solidFill>
                  <a:schemeClr val="dk1"/>
                </a:solidFill>
              </a:rPr>
            </a:b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96" name="Shape 96"/>
        <p:cNvGrpSpPr/>
        <p:nvPr/>
      </p:nvGrpSpPr>
      <p:grpSpPr>
        <a:xfrm>
          <a:off x="0" y="0"/>
          <a:ext cx="0" cy="0"/>
          <a:chOff x="0" y="0"/>
          <a:chExt cx="0" cy="0"/>
        </a:xfrm>
      </p:grpSpPr>
      <p:sp>
        <p:nvSpPr>
          <p:cNvPr id="97" name="Google Shape;97;p20"/>
          <p:cNvSpPr txBox="1"/>
          <p:nvPr/>
        </p:nvSpPr>
        <p:spPr>
          <a:xfrm>
            <a:off x="284900" y="100050"/>
            <a:ext cx="8677500" cy="41436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rPr>
              <a:t>  </a:t>
            </a:r>
            <a:r>
              <a:rPr b="1" lang="en">
                <a:solidFill>
                  <a:schemeClr val="dk1"/>
                </a:solidFill>
              </a:rPr>
              <a:t>6.Encode Categorical Variables</a:t>
            </a:r>
            <a:br>
              <a:rPr b="1" lang="en">
                <a:solidFill>
                  <a:schemeClr val="dk1"/>
                </a:solidFill>
              </a:rPr>
            </a:br>
            <a:endParaRPr b="1">
              <a:solidFill>
                <a:schemeClr val="dk1"/>
              </a:solidFill>
            </a:endParaRPr>
          </a:p>
          <a:p>
            <a:pPr indent="-317500" lvl="1" marL="914400" rtl="0" algn="l">
              <a:lnSpc>
                <a:spcPct val="115000"/>
              </a:lnSpc>
              <a:spcBef>
                <a:spcPts val="1200"/>
              </a:spcBef>
              <a:spcAft>
                <a:spcPts val="0"/>
              </a:spcAft>
              <a:buClr>
                <a:schemeClr val="dk1"/>
              </a:buClr>
              <a:buSzPts val="1400"/>
              <a:buChar char="○"/>
            </a:pPr>
            <a:r>
              <a:rPr lang="en">
                <a:solidFill>
                  <a:schemeClr val="dk1"/>
                </a:solidFill>
              </a:rPr>
              <a:t>Apply Label Encoding or One-Hot Encoding to categorical features (Month, </a:t>
            </a:r>
            <a:r>
              <a:rPr lang="en">
                <a:solidFill>
                  <a:schemeClr val="dk1"/>
                </a:solidFill>
              </a:rPr>
              <a:t>Visitor Type</a:t>
            </a:r>
            <a:r>
              <a:rPr lang="en">
                <a:solidFill>
                  <a:schemeClr val="dk1"/>
                </a:solidFill>
              </a:rPr>
              <a:t>).</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  </a:t>
            </a:r>
            <a:r>
              <a:rPr b="1" lang="en">
                <a:solidFill>
                  <a:schemeClr val="dk1"/>
                </a:solidFill>
              </a:rPr>
              <a:t>7.Feature Scaling</a:t>
            </a:r>
            <a:br>
              <a:rPr b="1" lang="en">
                <a:solidFill>
                  <a:schemeClr val="dk1"/>
                </a:solidFill>
              </a:rPr>
            </a:br>
            <a:endParaRPr b="1">
              <a:solidFill>
                <a:schemeClr val="dk1"/>
              </a:solidFill>
            </a:endParaRPr>
          </a:p>
          <a:p>
            <a:pPr indent="-317500" lvl="1" marL="914400" rtl="0" algn="l">
              <a:lnSpc>
                <a:spcPct val="115000"/>
              </a:lnSpc>
              <a:spcBef>
                <a:spcPts val="1200"/>
              </a:spcBef>
              <a:spcAft>
                <a:spcPts val="0"/>
              </a:spcAft>
              <a:buClr>
                <a:schemeClr val="dk1"/>
              </a:buClr>
              <a:buSzPts val="1400"/>
              <a:buChar char="○"/>
            </a:pPr>
            <a:r>
              <a:rPr lang="en">
                <a:solidFill>
                  <a:schemeClr val="dk1"/>
                </a:solidFill>
              </a:rPr>
              <a:t>Scale numerical features (e.g., </a:t>
            </a:r>
            <a:r>
              <a:rPr lang="en">
                <a:solidFill>
                  <a:schemeClr val="dk1"/>
                </a:solidFill>
              </a:rPr>
              <a:t>Bounce Rates</a:t>
            </a:r>
            <a:r>
              <a:rPr lang="en">
                <a:solidFill>
                  <a:schemeClr val="dk1"/>
                </a:solidFill>
              </a:rPr>
              <a:t>, ExitRates) using StandardScaler for models like KNN.</a:t>
            </a:r>
            <a:br>
              <a:rPr lang="en">
                <a:solidFill>
                  <a:schemeClr val="dk1"/>
                </a:solidFill>
              </a:rPr>
            </a:br>
            <a:endParaRPr>
              <a:solidFill>
                <a:schemeClr val="dk1"/>
              </a:solidFill>
            </a:endParaRPr>
          </a:p>
          <a:p>
            <a:pPr indent="0" lvl="0" marL="0" rtl="0" algn="l">
              <a:lnSpc>
                <a:spcPct val="115000"/>
              </a:lnSpc>
              <a:spcBef>
                <a:spcPts val="1200"/>
              </a:spcBef>
              <a:spcAft>
                <a:spcPts val="0"/>
              </a:spcAft>
              <a:buNone/>
            </a:pPr>
            <a:r>
              <a:rPr b="1" lang="en">
                <a:solidFill>
                  <a:schemeClr val="dk1"/>
                </a:solidFill>
              </a:rPr>
              <a:t>   </a:t>
            </a:r>
            <a:r>
              <a:rPr b="1" lang="en">
                <a:solidFill>
                  <a:schemeClr val="dk1"/>
                </a:solidFill>
              </a:rPr>
              <a:t>8.Split the Data (Train-Test Split)</a:t>
            </a:r>
            <a:br>
              <a:rPr b="1" lang="en">
                <a:solidFill>
                  <a:schemeClr val="dk1"/>
                </a:solidFill>
              </a:rPr>
            </a:br>
            <a:endParaRPr b="1">
              <a:solidFill>
                <a:schemeClr val="dk1"/>
              </a:solidFill>
            </a:endParaRPr>
          </a:p>
          <a:p>
            <a:pPr indent="-317500" lvl="1" marL="914400" rtl="0" algn="l">
              <a:lnSpc>
                <a:spcPct val="115000"/>
              </a:lnSpc>
              <a:spcBef>
                <a:spcPts val="1200"/>
              </a:spcBef>
              <a:spcAft>
                <a:spcPts val="0"/>
              </a:spcAft>
              <a:buClr>
                <a:schemeClr val="dk1"/>
              </a:buClr>
              <a:buSzPts val="1400"/>
              <a:buChar char="○"/>
            </a:pPr>
            <a:r>
              <a:rPr lang="en">
                <a:solidFill>
                  <a:schemeClr val="dk1"/>
                </a:solidFill>
              </a:rPr>
              <a:t>Divide into training (80%) and testing (20%).</a:t>
            </a:r>
            <a:br>
              <a:rPr lang="en">
                <a:solidFill>
                  <a:schemeClr val="dk1"/>
                </a:solidFill>
              </a:rPr>
            </a:b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1"/>
          <p:cNvSpPr txBox="1"/>
          <p:nvPr/>
        </p:nvSpPr>
        <p:spPr>
          <a:xfrm>
            <a:off x="165300" y="-43500"/>
            <a:ext cx="8906100" cy="55413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9.  Train Models Using Classification Algorithms</a:t>
            </a:r>
            <a:br>
              <a:rPr b="1" lang="en" sz="1200">
                <a:solidFill>
                  <a:schemeClr val="dk1"/>
                </a:solidFill>
                <a:latin typeface="Lato"/>
                <a:ea typeface="Lato"/>
                <a:cs typeface="Lato"/>
                <a:sym typeface="Lato"/>
              </a:rPr>
            </a:br>
            <a:endParaRPr b="1" sz="1200">
              <a:solidFill>
                <a:schemeClr val="dk1"/>
              </a:solidFill>
              <a:latin typeface="Lato"/>
              <a:ea typeface="Lato"/>
              <a:cs typeface="Lato"/>
              <a:sym typeface="Lato"/>
            </a:endParaRPr>
          </a:p>
          <a:p>
            <a:pPr indent="-304800" lvl="1" marL="914400" rtl="0" algn="l">
              <a:lnSpc>
                <a:spcPct val="115000"/>
              </a:lnSpc>
              <a:spcBef>
                <a:spcPts val="1200"/>
              </a:spcBef>
              <a:spcAft>
                <a:spcPts val="0"/>
              </a:spcAft>
              <a:buClr>
                <a:schemeClr val="dk1"/>
              </a:buClr>
              <a:buSzPts val="1200"/>
              <a:buFont typeface="Lato"/>
              <a:buChar char="○"/>
            </a:pPr>
            <a:r>
              <a:rPr lang="en" sz="1200">
                <a:solidFill>
                  <a:schemeClr val="dk1"/>
                </a:solidFill>
                <a:latin typeface="Lato"/>
                <a:ea typeface="Lato"/>
                <a:cs typeface="Lato"/>
                <a:sym typeface="Lato"/>
              </a:rPr>
              <a:t>Logistic Regression</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Decision Tree Classifier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Random Forest Classifier</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K-Nearest Neighbors (KNN)</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b="1"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10.  Optimize Model Performance</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1200"/>
              </a:spcBef>
              <a:spcAft>
                <a:spcPts val="0"/>
              </a:spcAft>
              <a:buClr>
                <a:schemeClr val="dk1"/>
              </a:buClr>
              <a:buSzPts val="1200"/>
              <a:buChar char="○"/>
            </a:pPr>
            <a:r>
              <a:rPr lang="en" sz="1200">
                <a:solidFill>
                  <a:schemeClr val="dk1"/>
                </a:solidFill>
                <a:latin typeface="Lato"/>
                <a:ea typeface="Lato"/>
                <a:cs typeface="Lato"/>
                <a:sym typeface="Lato"/>
              </a:rPr>
              <a:t>Use GridSearchCV for hyperparameter tuning.</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b="1" lang="en" sz="1200">
                <a:solidFill>
                  <a:schemeClr val="dk1"/>
                </a:solidFill>
                <a:latin typeface="Lato"/>
                <a:ea typeface="Lato"/>
                <a:cs typeface="Lato"/>
                <a:sym typeface="Lato"/>
              </a:rPr>
              <a:t> </a:t>
            </a:r>
            <a:r>
              <a:rPr b="1" lang="en" sz="1200">
                <a:solidFill>
                  <a:schemeClr val="dk1"/>
                </a:solidFill>
                <a:latin typeface="Lato"/>
                <a:ea typeface="Lato"/>
                <a:cs typeface="Lato"/>
                <a:sym typeface="Lato"/>
              </a:rPr>
              <a:t>11. Evaluate Model Performance</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1200"/>
              </a:spcBef>
              <a:spcAft>
                <a:spcPts val="0"/>
              </a:spcAft>
              <a:buClr>
                <a:schemeClr val="dk1"/>
              </a:buClr>
              <a:buSzPts val="1200"/>
              <a:buFont typeface="Lato"/>
              <a:buChar char="○"/>
            </a:pPr>
            <a:r>
              <a:rPr lang="en" sz="1200">
                <a:solidFill>
                  <a:schemeClr val="dk1"/>
                </a:solidFill>
                <a:latin typeface="Lato"/>
                <a:ea typeface="Lato"/>
                <a:cs typeface="Lato"/>
                <a:sym typeface="Lato"/>
              </a:rPr>
              <a:t>Evaluate accuracy, precision, recall, F1-score, and ROC-AUC.</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304800" lvl="1" marL="914400" rtl="0" algn="l">
              <a:lnSpc>
                <a:spcPct val="115000"/>
              </a:lnSpc>
              <a:spcBef>
                <a:spcPts val="0"/>
              </a:spcBef>
              <a:spcAft>
                <a:spcPts val="0"/>
              </a:spcAft>
              <a:buClr>
                <a:schemeClr val="dk1"/>
              </a:buClr>
              <a:buSzPts val="1200"/>
              <a:buFont typeface="Lato"/>
              <a:buChar char="○"/>
            </a:pPr>
            <a:r>
              <a:rPr lang="en" sz="1200">
                <a:solidFill>
                  <a:schemeClr val="dk1"/>
                </a:solidFill>
                <a:latin typeface="Lato"/>
                <a:ea typeface="Lato"/>
                <a:cs typeface="Lato"/>
                <a:sym typeface="Lato"/>
              </a:rPr>
              <a:t>Compare confusion matrices for all models.</a:t>
            </a:r>
            <a:br>
              <a:rPr lang="en" sz="1200">
                <a:solidFill>
                  <a:schemeClr val="dk1"/>
                </a:solidFill>
                <a:latin typeface="Lato"/>
                <a:ea typeface="Lato"/>
                <a:cs typeface="Lato"/>
                <a:sym typeface="Lato"/>
              </a:rPr>
            </a:br>
            <a:endParaRPr sz="1200">
              <a:solidFill>
                <a:schemeClr val="dk1"/>
              </a:solidFill>
              <a:latin typeface="Lato"/>
              <a:ea typeface="Lato"/>
              <a:cs typeface="Lato"/>
              <a:sym typeface="Lato"/>
            </a:endParaRPr>
          </a:p>
          <a:p>
            <a:pPr indent="0" lvl="0" marL="0" rtl="0" algn="l">
              <a:lnSpc>
                <a:spcPct val="115000"/>
              </a:lnSpc>
              <a:spcBef>
                <a:spcPts val="1200"/>
              </a:spcBef>
              <a:spcAft>
                <a:spcPts val="1200"/>
              </a:spcAft>
              <a:buNone/>
            </a:pPr>
            <a:r>
              <a:t/>
            </a:r>
            <a:endParaRPr sz="1200">
              <a:solidFill>
                <a:schemeClr val="dk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06" name="Shape 106"/>
        <p:cNvGrpSpPr/>
        <p:nvPr/>
      </p:nvGrpSpPr>
      <p:grpSpPr>
        <a:xfrm>
          <a:off x="0" y="0"/>
          <a:ext cx="0" cy="0"/>
          <a:chOff x="0" y="0"/>
          <a:chExt cx="0" cy="0"/>
        </a:xfrm>
      </p:grpSpPr>
      <p:sp>
        <p:nvSpPr>
          <p:cNvPr id="107" name="Google Shape;107;p22"/>
          <p:cNvSpPr txBox="1"/>
          <p:nvPr/>
        </p:nvSpPr>
        <p:spPr>
          <a:xfrm>
            <a:off x="199500" y="456875"/>
            <a:ext cx="8745000" cy="18903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1200"/>
              </a:spcBef>
              <a:spcAft>
                <a:spcPts val="0"/>
              </a:spcAft>
              <a:buNone/>
            </a:pPr>
            <a:r>
              <a:rPr b="1" lang="en" sz="1800">
                <a:solidFill>
                  <a:schemeClr val="dk1"/>
                </a:solidFill>
                <a:latin typeface="Lato"/>
                <a:ea typeface="Lato"/>
                <a:cs typeface="Lato"/>
                <a:sym typeface="Lato"/>
              </a:rPr>
              <a:t>Generate Insights</a:t>
            </a:r>
            <a:br>
              <a:rPr lang="en" sz="1800">
                <a:solidFill>
                  <a:schemeClr val="dk1"/>
                </a:solidFill>
                <a:latin typeface="Lato"/>
                <a:ea typeface="Lato"/>
                <a:cs typeface="Lato"/>
                <a:sym typeface="Lato"/>
              </a:rPr>
            </a:br>
            <a:endParaRPr sz="1800">
              <a:solidFill>
                <a:schemeClr val="dk1"/>
              </a:solidFill>
              <a:latin typeface="Lato"/>
              <a:ea typeface="Lato"/>
              <a:cs typeface="Lato"/>
              <a:sym typeface="Lato"/>
            </a:endParaRPr>
          </a:p>
          <a:p>
            <a:pPr indent="-342900" lvl="1" marL="914400" rtl="0" algn="l">
              <a:lnSpc>
                <a:spcPct val="115000"/>
              </a:lnSpc>
              <a:spcBef>
                <a:spcPts val="1200"/>
              </a:spcBef>
              <a:spcAft>
                <a:spcPts val="0"/>
              </a:spcAft>
              <a:buClr>
                <a:schemeClr val="dk1"/>
              </a:buClr>
              <a:buSzPts val="1800"/>
              <a:buFont typeface="Lato"/>
              <a:buChar char="○"/>
            </a:pPr>
            <a:r>
              <a:rPr lang="en" sz="1800">
                <a:solidFill>
                  <a:schemeClr val="dk1"/>
                </a:solidFill>
                <a:highlight>
                  <a:srgbClr val="FFF2CC"/>
                </a:highlight>
                <a:latin typeface="Lato"/>
                <a:ea typeface="Lato"/>
                <a:cs typeface="Lato"/>
                <a:sym typeface="Lato"/>
              </a:rPr>
              <a:t>Identify which features most strongly influence purchase decisions</a:t>
            </a:r>
            <a:r>
              <a:rPr lang="en" sz="1800">
                <a:solidFill>
                  <a:schemeClr val="dk1"/>
                </a:solidFill>
                <a:latin typeface="Lato"/>
                <a:ea typeface="Lato"/>
                <a:cs typeface="Lato"/>
                <a:sym typeface="Lato"/>
              </a:rPr>
              <a:t>.</a:t>
            </a:r>
            <a:br>
              <a:rPr lang="en" sz="1800">
                <a:solidFill>
                  <a:schemeClr val="dk1"/>
                </a:solidFill>
                <a:latin typeface="Lato"/>
                <a:ea typeface="Lato"/>
                <a:cs typeface="Lato"/>
                <a:sym typeface="Lato"/>
              </a:rPr>
            </a:br>
            <a:endParaRPr sz="1800">
              <a:solidFill>
                <a:schemeClr val="dk1"/>
              </a:solidFill>
              <a:latin typeface="Lato"/>
              <a:ea typeface="Lato"/>
              <a:cs typeface="Lato"/>
              <a:sym typeface="Lato"/>
            </a:endParaRPr>
          </a:p>
          <a:p>
            <a:pPr indent="-342900" lvl="1" marL="914400" rtl="0" algn="l">
              <a:lnSpc>
                <a:spcPct val="115000"/>
              </a:lnSpc>
              <a:spcBef>
                <a:spcPts val="0"/>
              </a:spcBef>
              <a:spcAft>
                <a:spcPts val="0"/>
              </a:spcAft>
              <a:buClr>
                <a:schemeClr val="dk1"/>
              </a:buClr>
              <a:buSzPts val="1800"/>
              <a:buFont typeface="Lato"/>
              <a:buChar char="○"/>
            </a:pPr>
            <a:r>
              <a:rPr lang="en" sz="1800">
                <a:solidFill>
                  <a:schemeClr val="dk1"/>
                </a:solidFill>
                <a:highlight>
                  <a:srgbClr val="FFF2CC"/>
                </a:highlight>
                <a:latin typeface="Lato"/>
                <a:ea typeface="Lato"/>
                <a:cs typeface="Lato"/>
                <a:sym typeface="Lato"/>
              </a:rPr>
              <a:t>Recommend strategies for improving conversion rates</a:t>
            </a:r>
            <a:r>
              <a:rPr lang="en" sz="1800">
                <a:solidFill>
                  <a:schemeClr val="dk1"/>
                </a:solidFill>
                <a:latin typeface="Lato"/>
                <a:ea typeface="Lato"/>
                <a:cs typeface="Lato"/>
                <a:sym typeface="Lato"/>
              </a:rPr>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97050"/>
            <a:ext cx="2289300" cy="420300"/>
          </a:xfrm>
          <a:prstGeom prst="rect">
            <a:avLst/>
          </a:prstGeom>
          <a:solidFill>
            <a:srgbClr val="C9DAF8"/>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sz="1800"/>
              <a:t>ABOUT DATASET</a:t>
            </a:r>
            <a:endParaRPr b="1" sz="1800"/>
          </a:p>
        </p:txBody>
      </p:sp>
      <p:sp>
        <p:nvSpPr>
          <p:cNvPr id="113" name="Google Shape;113;p23"/>
          <p:cNvSpPr txBox="1"/>
          <p:nvPr>
            <p:ph idx="1" type="body"/>
          </p:nvPr>
        </p:nvSpPr>
        <p:spPr>
          <a:xfrm>
            <a:off x="311700" y="604350"/>
            <a:ext cx="8520600" cy="4356300"/>
          </a:xfrm>
          <a:prstGeom prst="rect">
            <a:avLst/>
          </a:prstGeom>
          <a:solidFill>
            <a:srgbClr val="D9EAD3"/>
          </a:solidFill>
        </p:spPr>
        <p:txBody>
          <a:bodyPr anchorCtr="0" anchor="t" bIns="91425" lIns="91425" spcFirstLastPara="1" rIns="91425" wrap="square" tIns="91425">
            <a:noAutofit/>
          </a:bodyPr>
          <a:lstStyle/>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This dataset, collected from UCI Machine Learning Repository, contains online shoppers’ behavior sessions from an e-commerce platform.</a:t>
            </a: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b="1" lang="en" sz="1400">
                <a:solidFill>
                  <a:schemeClr val="dk1"/>
                </a:solidFill>
                <a:highlight>
                  <a:srgbClr val="EFEFEF"/>
                </a:highlight>
                <a:latin typeface="Lato"/>
                <a:ea typeface="Lato"/>
                <a:cs typeface="Lato"/>
                <a:sym typeface="Lato"/>
              </a:rPr>
              <a:t>Dataset Columns:</a:t>
            </a:r>
            <a:endParaRPr b="1" sz="1400">
              <a:solidFill>
                <a:schemeClr val="dk1"/>
              </a:solidFill>
              <a:highlight>
                <a:srgbClr val="EFEFEF"/>
              </a:highlight>
              <a:latin typeface="Lato"/>
              <a:ea typeface="Lato"/>
              <a:cs typeface="Lato"/>
              <a:sym typeface="Lato"/>
            </a:endParaRPr>
          </a:p>
          <a:p>
            <a:pPr indent="-317500" lvl="0" marL="457200" rtl="0" algn="l">
              <a:spcBef>
                <a:spcPts val="1200"/>
              </a:spcBef>
              <a:spcAft>
                <a:spcPts val="0"/>
              </a:spcAft>
              <a:buClr>
                <a:schemeClr val="dk1"/>
              </a:buClr>
              <a:buSzPts val="1400"/>
              <a:buAutoNum type="arabicPeriod"/>
            </a:pPr>
            <a:r>
              <a:rPr lang="en" sz="1400">
                <a:solidFill>
                  <a:schemeClr val="dk1"/>
                </a:solidFill>
                <a:latin typeface="Lato"/>
                <a:ea typeface="Lato"/>
                <a:cs typeface="Lato"/>
                <a:sym typeface="Lato"/>
              </a:rPr>
              <a:t>Administrative / Administrative_Duration – Pages related to site administration and their duration.</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Informational / Informational_Duration – Informational page visits and time spent.</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Product Related</a:t>
            </a:r>
            <a:r>
              <a:rPr lang="en" sz="1400">
                <a:solidFill>
                  <a:schemeClr val="dk1"/>
                </a:solidFill>
                <a:latin typeface="Lato"/>
                <a:ea typeface="Lato"/>
                <a:cs typeface="Lato"/>
                <a:sym typeface="Lato"/>
              </a:rPr>
              <a:t> / ProductRelated_Duration – Product-related pages visited and duration.</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Bounce Rates</a:t>
            </a:r>
            <a:r>
              <a:rPr lang="en" sz="1400">
                <a:solidFill>
                  <a:schemeClr val="dk1"/>
                </a:solidFill>
                <a:latin typeface="Lato"/>
                <a:ea typeface="Lato"/>
                <a:cs typeface="Lato"/>
                <a:sym typeface="Lato"/>
              </a:rPr>
              <a:t> – Probability of a user leaving after the first page.</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ExitRates – Probability of exiting the site from a given page.</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Page Values</a:t>
            </a:r>
            <a:r>
              <a:rPr lang="en" sz="1400">
                <a:solidFill>
                  <a:schemeClr val="dk1"/>
                </a:solidFill>
                <a:latin typeface="Lato"/>
                <a:ea typeface="Lato"/>
                <a:cs typeface="Lato"/>
                <a:sym typeface="Lato"/>
              </a:rPr>
              <a:t> – Value of pages based on conversion likelihood.</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AutoNum type="arabicPeriod"/>
            </a:pPr>
            <a:r>
              <a:rPr lang="en" sz="1400">
                <a:solidFill>
                  <a:schemeClr val="dk1"/>
                </a:solidFill>
                <a:latin typeface="Lato"/>
                <a:ea typeface="Lato"/>
                <a:cs typeface="Lato"/>
                <a:sym typeface="Lato"/>
              </a:rPr>
              <a:t>Special Day</a:t>
            </a:r>
            <a:r>
              <a:rPr lang="en" sz="1400">
                <a:solidFill>
                  <a:schemeClr val="dk1"/>
                </a:solidFill>
                <a:latin typeface="Lato"/>
                <a:ea typeface="Lato"/>
                <a:cs typeface="Lato"/>
                <a:sym typeface="Lato"/>
              </a:rPr>
              <a:t> – Proximity to special shopping days (e.g., Black Friday).</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0" lvl="0" marL="0" rtl="0" algn="l">
              <a:spcBef>
                <a:spcPts val="1200"/>
              </a:spcBef>
              <a:spcAft>
                <a:spcPts val="1200"/>
              </a:spcAft>
              <a:buNone/>
            </a:pPr>
            <a:r>
              <a:t/>
            </a:r>
            <a:endParaRPr sz="1400">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17" name="Shape 117"/>
        <p:cNvGrpSpPr/>
        <p:nvPr/>
      </p:nvGrpSpPr>
      <p:grpSpPr>
        <a:xfrm>
          <a:off x="0" y="0"/>
          <a:ext cx="0" cy="0"/>
          <a:chOff x="0" y="0"/>
          <a:chExt cx="0" cy="0"/>
        </a:xfrm>
      </p:grpSpPr>
      <p:sp>
        <p:nvSpPr>
          <p:cNvPr id="118" name="Google Shape;118;p24"/>
          <p:cNvSpPr txBox="1"/>
          <p:nvPr/>
        </p:nvSpPr>
        <p:spPr>
          <a:xfrm>
            <a:off x="117900" y="384950"/>
            <a:ext cx="8908200" cy="3246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a:solidFill>
                  <a:schemeClr val="dk1"/>
                </a:solidFill>
                <a:latin typeface="Lato"/>
                <a:ea typeface="Lato"/>
                <a:cs typeface="Lato"/>
                <a:sym typeface="Lato"/>
              </a:rPr>
              <a:t>8.    </a:t>
            </a:r>
            <a:r>
              <a:rPr lang="en">
                <a:solidFill>
                  <a:schemeClr val="dk1"/>
                </a:solidFill>
                <a:latin typeface="Lato"/>
                <a:ea typeface="Lato"/>
                <a:cs typeface="Lato"/>
                <a:sym typeface="Lato"/>
              </a:rPr>
              <a:t>Month – Month of visit (categorical).</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en">
                <a:solidFill>
                  <a:schemeClr val="dk1"/>
                </a:solidFill>
                <a:latin typeface="Lato"/>
                <a:ea typeface="Lato"/>
                <a:cs typeface="Lato"/>
                <a:sym typeface="Lato"/>
              </a:rPr>
              <a:t>9.     Operating Systems</a:t>
            </a:r>
            <a:r>
              <a:rPr lang="en">
                <a:solidFill>
                  <a:schemeClr val="dk1"/>
                </a:solidFill>
                <a:latin typeface="Lato"/>
                <a:ea typeface="Lato"/>
                <a:cs typeface="Lato"/>
                <a:sym typeface="Lato"/>
              </a:rPr>
              <a:t>, Browser, Region, TrafficType – Technical info.</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en">
                <a:solidFill>
                  <a:schemeClr val="dk1"/>
                </a:solidFill>
                <a:latin typeface="Lato"/>
                <a:ea typeface="Lato"/>
                <a:cs typeface="Lato"/>
                <a:sym typeface="Lato"/>
              </a:rPr>
              <a:t>10.  Visitor Type</a:t>
            </a:r>
            <a:r>
              <a:rPr lang="en">
                <a:solidFill>
                  <a:schemeClr val="dk1"/>
                </a:solidFill>
                <a:latin typeface="Lato"/>
                <a:ea typeface="Lato"/>
                <a:cs typeface="Lato"/>
                <a:sym typeface="Lato"/>
              </a:rPr>
              <a:t> – Returning vs New Visitor.</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en">
                <a:solidFill>
                  <a:schemeClr val="dk1"/>
                </a:solidFill>
                <a:latin typeface="Lato"/>
                <a:ea typeface="Lato"/>
                <a:cs typeface="Lato"/>
                <a:sym typeface="Lato"/>
              </a:rPr>
              <a:t>11.  </a:t>
            </a:r>
            <a:r>
              <a:rPr lang="en">
                <a:solidFill>
                  <a:schemeClr val="dk1"/>
                </a:solidFill>
                <a:latin typeface="Lato"/>
                <a:ea typeface="Lato"/>
                <a:cs typeface="Lato"/>
                <a:sym typeface="Lato"/>
              </a:rPr>
              <a:t>Weekend – Boolean indicating if the session was on a weekend.</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1200"/>
              </a:spcAft>
              <a:buNone/>
            </a:pPr>
            <a:r>
              <a:rPr lang="en">
                <a:solidFill>
                  <a:schemeClr val="dk1"/>
                </a:solidFill>
                <a:latin typeface="Lato"/>
                <a:ea typeface="Lato"/>
                <a:cs typeface="Lato"/>
                <a:sym typeface="Lato"/>
              </a:rPr>
              <a:t>12.  </a:t>
            </a:r>
            <a:r>
              <a:rPr lang="en">
                <a:solidFill>
                  <a:schemeClr val="dk1"/>
                </a:solidFill>
                <a:latin typeface="Lato"/>
                <a:ea typeface="Lato"/>
                <a:cs typeface="Lato"/>
                <a:sym typeface="Lato"/>
              </a:rPr>
              <a:t>Revenue – Target variable (1 = Purchase, 0 = No Purchase)</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2" name="Shape 122"/>
        <p:cNvGrpSpPr/>
        <p:nvPr/>
      </p:nvGrpSpPr>
      <p:grpSpPr>
        <a:xfrm>
          <a:off x="0" y="0"/>
          <a:ext cx="0" cy="0"/>
          <a:chOff x="0" y="0"/>
          <a:chExt cx="0" cy="0"/>
        </a:xfrm>
      </p:grpSpPr>
      <p:sp>
        <p:nvSpPr>
          <p:cNvPr id="123" name="Google Shape;123;p25"/>
          <p:cNvSpPr txBox="1"/>
          <p:nvPr>
            <p:ph type="title"/>
          </p:nvPr>
        </p:nvSpPr>
        <p:spPr>
          <a:xfrm>
            <a:off x="420450" y="194875"/>
            <a:ext cx="2757000" cy="505500"/>
          </a:xfrm>
          <a:prstGeom prst="rect">
            <a:avLst/>
          </a:prstGeom>
          <a:solidFill>
            <a:srgbClr val="C9DAF8"/>
          </a:solidFill>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Lexend"/>
                <a:ea typeface="Lexend"/>
                <a:cs typeface="Lexend"/>
                <a:sym typeface="Lexend"/>
              </a:rPr>
              <a:t>METHODOLOGY</a:t>
            </a:r>
            <a:endParaRPr b="1" sz="1800">
              <a:latin typeface="Lexend"/>
              <a:ea typeface="Lexend"/>
              <a:cs typeface="Lexend"/>
              <a:sym typeface="Lexend"/>
            </a:endParaRPr>
          </a:p>
        </p:txBody>
      </p:sp>
      <p:sp>
        <p:nvSpPr>
          <p:cNvPr id="124" name="Google Shape;124;p25"/>
          <p:cNvSpPr txBox="1"/>
          <p:nvPr>
            <p:ph idx="1" type="body"/>
          </p:nvPr>
        </p:nvSpPr>
        <p:spPr>
          <a:xfrm>
            <a:off x="376950" y="896025"/>
            <a:ext cx="8520600" cy="4247400"/>
          </a:xfrm>
          <a:prstGeom prst="rect">
            <a:avLst/>
          </a:prstGeom>
          <a:solidFill>
            <a:srgbClr val="D9EAD3"/>
          </a:solidFill>
        </p:spPr>
        <p:txBody>
          <a:bodyPr anchorCtr="0" anchor="t" bIns="91425" lIns="91425" spcFirstLastPara="1" rIns="91425" wrap="square" tIns="91425">
            <a:normAutofit fontScale="25000" lnSpcReduction="20000"/>
          </a:bodyPr>
          <a:lstStyle/>
          <a:p>
            <a:pPr indent="-317500" lvl="0" marL="457200" rtl="0" algn="l">
              <a:spcBef>
                <a:spcPts val="1200"/>
              </a:spcBef>
              <a:spcAft>
                <a:spcPts val="0"/>
              </a:spcAft>
              <a:buClr>
                <a:schemeClr val="dk1"/>
              </a:buClr>
              <a:buSzPct val="100000"/>
              <a:buAutoNum type="arabicPeriod"/>
            </a:pPr>
            <a:r>
              <a:rPr b="1" lang="en" sz="5600">
                <a:solidFill>
                  <a:schemeClr val="dk1"/>
                </a:solidFill>
              </a:rPr>
              <a:t>Libraries Used</a:t>
            </a:r>
            <a:br>
              <a:rPr b="1" lang="en" sz="5600">
                <a:solidFill>
                  <a:schemeClr val="dk1"/>
                </a:solidFill>
              </a:rPr>
            </a:br>
            <a:endParaRPr b="1" sz="5600">
              <a:solidFill>
                <a:schemeClr val="dk1"/>
              </a:solidFill>
            </a:endParaRPr>
          </a:p>
          <a:p>
            <a:pPr indent="-317500" lvl="1" marL="914400" rtl="0" algn="l">
              <a:spcBef>
                <a:spcPts val="0"/>
              </a:spcBef>
              <a:spcAft>
                <a:spcPts val="0"/>
              </a:spcAft>
              <a:buClr>
                <a:schemeClr val="dk1"/>
              </a:buClr>
              <a:buSzPct val="100000"/>
              <a:buChar char="○"/>
            </a:pPr>
            <a:r>
              <a:rPr lang="en" sz="5600">
                <a:solidFill>
                  <a:schemeClr val="dk1"/>
                </a:solidFill>
              </a:rPr>
              <a:t>Pandas, NumPy – Data handling.</a:t>
            </a:r>
            <a:br>
              <a:rPr lang="en" sz="5600">
                <a:solidFill>
                  <a:schemeClr val="dk1"/>
                </a:solidFill>
              </a:rPr>
            </a:br>
            <a:endParaRPr sz="5600">
              <a:solidFill>
                <a:schemeClr val="dk1"/>
              </a:solidFill>
            </a:endParaRPr>
          </a:p>
          <a:p>
            <a:pPr indent="-317500" lvl="1" marL="914400" rtl="0" algn="l">
              <a:spcBef>
                <a:spcPts val="0"/>
              </a:spcBef>
              <a:spcAft>
                <a:spcPts val="0"/>
              </a:spcAft>
              <a:buClr>
                <a:schemeClr val="dk1"/>
              </a:buClr>
              <a:buSzPct val="100000"/>
              <a:buChar char="○"/>
            </a:pPr>
            <a:r>
              <a:rPr lang="en" sz="5600">
                <a:solidFill>
                  <a:schemeClr val="dk1"/>
                </a:solidFill>
              </a:rPr>
              <a:t>Matplotlib, Seaborn – Visualization.</a:t>
            </a:r>
            <a:br>
              <a:rPr lang="en" sz="5600">
                <a:solidFill>
                  <a:schemeClr val="dk1"/>
                </a:solidFill>
              </a:rPr>
            </a:br>
            <a:endParaRPr sz="5600">
              <a:solidFill>
                <a:schemeClr val="dk1"/>
              </a:solidFill>
            </a:endParaRPr>
          </a:p>
          <a:p>
            <a:pPr indent="-317500" lvl="1" marL="914400" rtl="0" algn="l">
              <a:spcBef>
                <a:spcPts val="0"/>
              </a:spcBef>
              <a:spcAft>
                <a:spcPts val="0"/>
              </a:spcAft>
              <a:buClr>
                <a:schemeClr val="dk1"/>
              </a:buClr>
              <a:buSzPct val="100000"/>
              <a:buChar char="○"/>
            </a:pPr>
            <a:r>
              <a:rPr lang="en" sz="5600">
                <a:solidFill>
                  <a:schemeClr val="dk1"/>
                </a:solidFill>
              </a:rPr>
              <a:t>Scikit-learn – Preprocessing, model training, and evaluation.</a:t>
            </a:r>
            <a:br>
              <a:rPr lang="en" sz="5600">
                <a:solidFill>
                  <a:schemeClr val="dk1"/>
                </a:solidFill>
              </a:rPr>
            </a:br>
            <a:endParaRPr sz="5600">
              <a:solidFill>
                <a:schemeClr val="dk1"/>
              </a:solidFill>
            </a:endParaRPr>
          </a:p>
          <a:p>
            <a:pPr indent="-317500" lvl="0" marL="457200" rtl="0" algn="l">
              <a:spcBef>
                <a:spcPts val="0"/>
              </a:spcBef>
              <a:spcAft>
                <a:spcPts val="0"/>
              </a:spcAft>
              <a:buClr>
                <a:schemeClr val="dk1"/>
              </a:buClr>
              <a:buSzPct val="100000"/>
              <a:buAutoNum type="arabicPeriod"/>
            </a:pPr>
            <a:r>
              <a:rPr b="1" lang="en" sz="5600">
                <a:solidFill>
                  <a:schemeClr val="dk1"/>
                </a:solidFill>
              </a:rPr>
              <a:t>Machine Learning Models Applied</a:t>
            </a:r>
            <a:br>
              <a:rPr b="1" lang="en" sz="5600">
                <a:solidFill>
                  <a:schemeClr val="dk1"/>
                </a:solidFill>
              </a:rPr>
            </a:br>
            <a:endParaRPr b="1" sz="5600">
              <a:solidFill>
                <a:schemeClr val="dk1"/>
              </a:solidFill>
            </a:endParaRPr>
          </a:p>
          <a:p>
            <a:pPr indent="-317500" lvl="1" marL="914400" rtl="0" algn="l">
              <a:spcBef>
                <a:spcPts val="0"/>
              </a:spcBef>
              <a:spcAft>
                <a:spcPts val="0"/>
              </a:spcAft>
              <a:buClr>
                <a:schemeClr val="dk1"/>
              </a:buClr>
              <a:buSzPct val="100000"/>
              <a:buChar char="○"/>
            </a:pPr>
            <a:r>
              <a:rPr b="1" lang="en" sz="5600">
                <a:solidFill>
                  <a:schemeClr val="dk1"/>
                </a:solidFill>
                <a:highlight>
                  <a:srgbClr val="D0E0E3"/>
                </a:highlight>
              </a:rPr>
              <a:t>Logistic Regression:</a:t>
            </a:r>
            <a:r>
              <a:rPr lang="en" sz="5600">
                <a:solidFill>
                  <a:schemeClr val="dk1"/>
                </a:solidFill>
                <a:highlight>
                  <a:srgbClr val="D0E0E3"/>
                </a:highlight>
              </a:rPr>
              <a:t> For baseline binary classification.</a:t>
            </a:r>
            <a:br>
              <a:rPr lang="en" sz="5600">
                <a:solidFill>
                  <a:schemeClr val="dk1"/>
                </a:solidFill>
                <a:highlight>
                  <a:srgbClr val="D0E0E3"/>
                </a:highlight>
              </a:rPr>
            </a:br>
            <a:endParaRPr sz="5600">
              <a:solidFill>
                <a:schemeClr val="dk1"/>
              </a:solidFill>
              <a:highlight>
                <a:srgbClr val="D0E0E3"/>
              </a:highlight>
            </a:endParaRPr>
          </a:p>
          <a:p>
            <a:pPr indent="-317500" lvl="1" marL="914400" rtl="0" algn="l">
              <a:spcBef>
                <a:spcPts val="0"/>
              </a:spcBef>
              <a:spcAft>
                <a:spcPts val="0"/>
              </a:spcAft>
              <a:buClr>
                <a:schemeClr val="dk1"/>
              </a:buClr>
              <a:buSzPct val="100000"/>
              <a:buChar char="○"/>
            </a:pPr>
            <a:r>
              <a:rPr b="1" lang="en" sz="5600">
                <a:solidFill>
                  <a:schemeClr val="dk1"/>
                </a:solidFill>
                <a:highlight>
                  <a:srgbClr val="D0E0E3"/>
                </a:highlight>
              </a:rPr>
              <a:t>K-Nearest Neighbors (KNN):</a:t>
            </a:r>
            <a:r>
              <a:rPr lang="en" sz="5600">
                <a:solidFill>
                  <a:schemeClr val="dk1"/>
                </a:solidFill>
                <a:highlight>
                  <a:srgbClr val="D0E0E3"/>
                </a:highlight>
              </a:rPr>
              <a:t> Distance-based classifier.</a:t>
            </a:r>
            <a:br>
              <a:rPr lang="en" sz="5600">
                <a:solidFill>
                  <a:schemeClr val="dk1"/>
                </a:solidFill>
                <a:highlight>
                  <a:srgbClr val="D0E0E3"/>
                </a:highlight>
              </a:rPr>
            </a:br>
            <a:endParaRPr sz="5600">
              <a:solidFill>
                <a:schemeClr val="dk1"/>
              </a:solidFill>
              <a:highlight>
                <a:srgbClr val="D0E0E3"/>
              </a:highlight>
            </a:endParaRPr>
          </a:p>
          <a:p>
            <a:pPr indent="-317500" lvl="1" marL="914400" rtl="0" algn="l">
              <a:spcBef>
                <a:spcPts val="0"/>
              </a:spcBef>
              <a:spcAft>
                <a:spcPts val="0"/>
              </a:spcAft>
              <a:buClr>
                <a:schemeClr val="dk1"/>
              </a:buClr>
              <a:buSzPct val="100000"/>
              <a:buChar char="○"/>
            </a:pPr>
            <a:r>
              <a:rPr b="1" lang="en" sz="5600">
                <a:solidFill>
                  <a:schemeClr val="dk1"/>
                </a:solidFill>
                <a:highlight>
                  <a:srgbClr val="D0E0E3"/>
                </a:highlight>
              </a:rPr>
              <a:t>Decision Tree:</a:t>
            </a:r>
            <a:r>
              <a:rPr lang="en" sz="5600">
                <a:solidFill>
                  <a:schemeClr val="dk1"/>
                </a:solidFill>
                <a:highlight>
                  <a:srgbClr val="D0E0E3"/>
                </a:highlight>
              </a:rPr>
              <a:t> Rule-based classification.</a:t>
            </a:r>
            <a:br>
              <a:rPr lang="en" sz="5600">
                <a:solidFill>
                  <a:schemeClr val="dk1"/>
                </a:solidFill>
                <a:highlight>
                  <a:srgbClr val="D0E0E3"/>
                </a:highlight>
              </a:rPr>
            </a:br>
            <a:endParaRPr sz="5600">
              <a:solidFill>
                <a:schemeClr val="dk1"/>
              </a:solidFill>
              <a:highlight>
                <a:srgbClr val="D0E0E3"/>
              </a:highlight>
            </a:endParaRPr>
          </a:p>
          <a:p>
            <a:pPr indent="-317500" lvl="1" marL="914400" rtl="0" algn="l">
              <a:spcBef>
                <a:spcPts val="0"/>
              </a:spcBef>
              <a:spcAft>
                <a:spcPts val="0"/>
              </a:spcAft>
              <a:buClr>
                <a:schemeClr val="dk1"/>
              </a:buClr>
              <a:buSzPct val="100000"/>
              <a:buChar char="○"/>
            </a:pPr>
            <a:r>
              <a:rPr b="1" lang="en" sz="5600">
                <a:solidFill>
                  <a:schemeClr val="dk1"/>
                </a:solidFill>
                <a:highlight>
                  <a:srgbClr val="D0E0E3"/>
                </a:highlight>
              </a:rPr>
              <a:t>Random Forest:</a:t>
            </a:r>
            <a:r>
              <a:rPr lang="en" sz="5600">
                <a:solidFill>
                  <a:schemeClr val="dk1"/>
                </a:solidFill>
                <a:highlight>
                  <a:srgbClr val="D0E0E3"/>
                </a:highlight>
              </a:rPr>
              <a:t> Ensemble of decision trees for robust predictions.</a:t>
            </a:r>
            <a:br>
              <a:rPr lang="en" sz="5600">
                <a:solidFill>
                  <a:schemeClr val="dk1"/>
                </a:solidFill>
                <a:highlight>
                  <a:srgbClr val="D0E0E3"/>
                </a:highlight>
              </a:rPr>
            </a:br>
            <a:endParaRPr sz="5600">
              <a:solidFill>
                <a:schemeClr val="dk1"/>
              </a:solidFill>
              <a:highlight>
                <a:srgbClr val="D0E0E3"/>
              </a:highlight>
            </a:endParaRPr>
          </a:p>
          <a:p>
            <a:pPr indent="0" lvl="0" marL="0" rtl="0" algn="l">
              <a:spcBef>
                <a:spcPts val="1200"/>
              </a:spcBef>
              <a:spcAft>
                <a:spcPts val="0"/>
              </a:spcAft>
              <a:buNone/>
            </a:pPr>
            <a:r>
              <a:t/>
            </a:r>
            <a:endParaRPr sz="5600">
              <a:solidFill>
                <a:schemeClr val="dk1"/>
              </a:solidFill>
            </a:endParaRPr>
          </a:p>
          <a:p>
            <a:pPr indent="0" lvl="0" marL="0" rtl="0" algn="l">
              <a:spcBef>
                <a:spcPts val="1200"/>
              </a:spcBef>
              <a:spcAft>
                <a:spcPts val="1200"/>
              </a:spcAft>
              <a:buNone/>
            </a:pPr>
            <a:r>
              <a:t/>
            </a:r>
            <a:endParaRPr sz="29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28" name="Shape 128"/>
        <p:cNvGrpSpPr/>
        <p:nvPr/>
      </p:nvGrpSpPr>
      <p:grpSpPr>
        <a:xfrm>
          <a:off x="0" y="0"/>
          <a:ext cx="0" cy="0"/>
          <a:chOff x="0" y="0"/>
          <a:chExt cx="0" cy="0"/>
        </a:xfrm>
      </p:grpSpPr>
      <p:sp>
        <p:nvSpPr>
          <p:cNvPr id="129" name="Google Shape;129;p26"/>
          <p:cNvSpPr txBox="1"/>
          <p:nvPr/>
        </p:nvSpPr>
        <p:spPr>
          <a:xfrm>
            <a:off x="96150" y="608950"/>
            <a:ext cx="8951700" cy="3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Lato"/>
                <a:ea typeface="Lato"/>
                <a:cs typeface="Lato"/>
                <a:sym typeface="Lato"/>
              </a:rPr>
              <a:t>3.</a:t>
            </a:r>
            <a:r>
              <a:rPr b="1" lang="en">
                <a:solidFill>
                  <a:schemeClr val="dk1"/>
                </a:solidFill>
                <a:latin typeface="Lato"/>
                <a:ea typeface="Lato"/>
                <a:cs typeface="Lato"/>
                <a:sym typeface="Lato"/>
              </a:rPr>
              <a:t>   </a:t>
            </a:r>
            <a:r>
              <a:rPr b="1" lang="en">
                <a:solidFill>
                  <a:schemeClr val="dk1"/>
                </a:solidFill>
                <a:latin typeface="Lato"/>
                <a:ea typeface="Lato"/>
                <a:cs typeface="Lato"/>
                <a:sym typeface="Lato"/>
              </a:rPr>
              <a:t>Preprocessing Techniques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One-Hot Encoding for categorical features.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StandardScaler for normalization.</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Train-Test split to evaluate performance.</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lang="en">
                <a:solidFill>
                  <a:schemeClr val="dk1"/>
                </a:solidFill>
                <a:latin typeface="Lato"/>
                <a:ea typeface="Lato"/>
                <a:cs typeface="Lato"/>
                <a:sym typeface="Lato"/>
              </a:rPr>
              <a:t>4.  </a:t>
            </a:r>
            <a:r>
              <a:rPr b="1" lang="en">
                <a:solidFill>
                  <a:schemeClr val="dk1"/>
                </a:solidFill>
                <a:latin typeface="Lato"/>
                <a:ea typeface="Lato"/>
                <a:cs typeface="Lato"/>
                <a:sym typeface="Lato"/>
              </a:rPr>
              <a:t>Hyperparameter Tuning</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GridSearchCV to optimize n_neighbors (KNN), max_depth (Decision Tree), and n_estimators (Random Forest).</a:t>
            </a:r>
            <a:endParaRPr>
              <a:solidFill>
                <a:schemeClr val="dk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33" name="Shape 133"/>
        <p:cNvGrpSpPr/>
        <p:nvPr/>
      </p:nvGrpSpPr>
      <p:grpSpPr>
        <a:xfrm>
          <a:off x="0" y="0"/>
          <a:ext cx="0" cy="0"/>
          <a:chOff x="0" y="0"/>
          <a:chExt cx="0" cy="0"/>
        </a:xfrm>
      </p:grpSpPr>
      <p:sp>
        <p:nvSpPr>
          <p:cNvPr id="134" name="Google Shape;134;p27"/>
          <p:cNvSpPr txBox="1"/>
          <p:nvPr>
            <p:ph type="title"/>
          </p:nvPr>
        </p:nvSpPr>
        <p:spPr>
          <a:xfrm>
            <a:off x="355200" y="140525"/>
            <a:ext cx="3202800" cy="572700"/>
          </a:xfrm>
          <a:prstGeom prst="rect">
            <a:avLst/>
          </a:prstGeom>
          <a:solidFill>
            <a:srgbClr val="C9DAF8"/>
          </a:solidFill>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Lexend"/>
                <a:ea typeface="Lexend"/>
                <a:cs typeface="Lexend"/>
                <a:sym typeface="Lexend"/>
              </a:rPr>
              <a:t>DATA INTERPRETATION</a:t>
            </a:r>
            <a:endParaRPr b="1" sz="1800">
              <a:latin typeface="Lexend"/>
              <a:ea typeface="Lexend"/>
              <a:cs typeface="Lexend"/>
              <a:sym typeface="Lexend"/>
            </a:endParaRPr>
          </a:p>
        </p:txBody>
      </p:sp>
      <p:sp>
        <p:nvSpPr>
          <p:cNvPr id="135" name="Google Shape;135;p27"/>
          <p:cNvSpPr txBox="1"/>
          <p:nvPr>
            <p:ph idx="1" type="body"/>
          </p:nvPr>
        </p:nvSpPr>
        <p:spPr>
          <a:xfrm>
            <a:off x="355200" y="978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Lato"/>
                <a:ea typeface="Lato"/>
                <a:cs typeface="Lato"/>
                <a:sym typeface="Lato"/>
              </a:rPr>
              <a:t>Dependent Variable: Revenue (purchase intent).</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0" lvl="0" marL="0" rtl="0" algn="l">
              <a:spcBef>
                <a:spcPts val="1200"/>
              </a:spcBef>
              <a:spcAft>
                <a:spcPts val="0"/>
              </a:spcAft>
              <a:buClr>
                <a:schemeClr val="dk1"/>
              </a:buClr>
              <a:buSzPts val="1100"/>
              <a:buFont typeface="Arial"/>
              <a:buNone/>
            </a:pPr>
            <a:r>
              <a:rPr lang="en" sz="1400">
                <a:solidFill>
                  <a:schemeClr val="dk1"/>
                </a:solidFill>
                <a:latin typeface="Lato"/>
                <a:ea typeface="Lato"/>
                <a:cs typeface="Lato"/>
                <a:sym typeface="Lato"/>
              </a:rPr>
              <a:t>Independent Variables:</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1200"/>
              </a:spcBef>
              <a:spcAft>
                <a:spcPts val="0"/>
              </a:spcAft>
              <a:buClr>
                <a:schemeClr val="dk1"/>
              </a:buClr>
              <a:buSzPts val="1400"/>
              <a:buFont typeface="Lato"/>
              <a:buChar char="●"/>
            </a:pPr>
            <a:r>
              <a:rPr lang="en" sz="1400">
                <a:solidFill>
                  <a:schemeClr val="dk1"/>
                </a:solidFill>
                <a:latin typeface="Lato"/>
                <a:ea typeface="Lato"/>
                <a:cs typeface="Lato"/>
                <a:sym typeface="Lato"/>
              </a:rPr>
              <a:t>Session behavior (pages visited, durations, bounce/exit rates).</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sz="1400">
                <a:solidFill>
                  <a:schemeClr val="dk1"/>
                </a:solidFill>
                <a:latin typeface="Lato"/>
                <a:ea typeface="Lato"/>
                <a:cs typeface="Lato"/>
                <a:sym typeface="Lato"/>
              </a:rPr>
              <a:t>Visitor attributes (</a:t>
            </a:r>
            <a:r>
              <a:rPr lang="en" sz="1400">
                <a:solidFill>
                  <a:schemeClr val="dk1"/>
                </a:solidFill>
                <a:latin typeface="Lato"/>
                <a:ea typeface="Lato"/>
                <a:cs typeface="Lato"/>
                <a:sym typeface="Lato"/>
              </a:rPr>
              <a:t>Visitor Type</a:t>
            </a:r>
            <a:r>
              <a:rPr lang="en" sz="1400">
                <a:solidFill>
                  <a:schemeClr val="dk1"/>
                </a:solidFill>
                <a:latin typeface="Lato"/>
                <a:ea typeface="Lato"/>
                <a:cs typeface="Lato"/>
                <a:sym typeface="Lato"/>
              </a:rPr>
              <a:t>, Weekend).</a:t>
            </a:r>
            <a:br>
              <a:rPr lang="en" sz="1400">
                <a:solidFill>
                  <a:schemeClr val="dk1"/>
                </a:solidFill>
                <a:latin typeface="Lato"/>
                <a:ea typeface="Lato"/>
                <a:cs typeface="Lato"/>
                <a:sym typeface="Lato"/>
              </a:rPr>
            </a:br>
            <a:endParaRPr sz="1400">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Char char="●"/>
            </a:pPr>
            <a:r>
              <a:rPr lang="en" sz="1400">
                <a:solidFill>
                  <a:schemeClr val="dk1"/>
                </a:solidFill>
                <a:latin typeface="Lato"/>
                <a:ea typeface="Lato"/>
                <a:cs typeface="Lato"/>
                <a:sym typeface="Lato"/>
              </a:rPr>
              <a:t>Seasonal effects (Month, SpecialDay).</a:t>
            </a:r>
            <a:endParaRPr sz="1400">
              <a:solidFill>
                <a:schemeClr val="dk1"/>
              </a:solidFill>
              <a:latin typeface="Lato"/>
              <a:ea typeface="Lato"/>
              <a:cs typeface="Lato"/>
              <a:sym typeface="Lato"/>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39" name="Shape 139"/>
        <p:cNvGrpSpPr/>
        <p:nvPr/>
      </p:nvGrpSpPr>
      <p:grpSpPr>
        <a:xfrm>
          <a:off x="0" y="0"/>
          <a:ext cx="0" cy="0"/>
          <a:chOff x="0" y="0"/>
          <a:chExt cx="0" cy="0"/>
        </a:xfrm>
      </p:grpSpPr>
      <p:sp>
        <p:nvSpPr>
          <p:cNvPr id="140" name="Google Shape;140;p28"/>
          <p:cNvSpPr txBox="1"/>
          <p:nvPr/>
        </p:nvSpPr>
        <p:spPr>
          <a:xfrm>
            <a:off x="286500" y="674200"/>
            <a:ext cx="8571000" cy="2784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highlight>
                  <a:srgbClr val="C9DAF8"/>
                </a:highlight>
              </a:rPr>
              <a:t>Key Observations:</a:t>
            </a:r>
            <a:endParaRPr b="1">
              <a:solidFill>
                <a:schemeClr val="dk1"/>
              </a:solidFill>
              <a:highlight>
                <a:srgbClr val="C9DAF8"/>
              </a:highlight>
            </a:endParaRPr>
          </a:p>
          <a:p>
            <a:pPr indent="-317500" lvl="0" marL="457200" rtl="0" algn="l">
              <a:lnSpc>
                <a:spcPct val="115000"/>
              </a:lnSpc>
              <a:spcBef>
                <a:spcPts val="1200"/>
              </a:spcBef>
              <a:spcAft>
                <a:spcPts val="0"/>
              </a:spcAft>
              <a:buClr>
                <a:schemeClr val="dk1"/>
              </a:buClr>
              <a:buSzPts val="1400"/>
              <a:buChar char="●"/>
            </a:pPr>
            <a:r>
              <a:rPr b="1" lang="en">
                <a:solidFill>
                  <a:schemeClr val="dk1"/>
                </a:solidFill>
              </a:rPr>
              <a:t>Random Forest</a:t>
            </a:r>
            <a:r>
              <a:rPr lang="en">
                <a:solidFill>
                  <a:schemeClr val="dk1"/>
                </a:solidFill>
              </a:rPr>
              <a:t> achieved the best accuracy (~89–92%).</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b="1" lang="en">
                <a:solidFill>
                  <a:schemeClr val="dk1"/>
                </a:solidFill>
              </a:rPr>
              <a:t>Important Features:</a:t>
            </a:r>
            <a:r>
              <a:rPr lang="en">
                <a:solidFill>
                  <a:schemeClr val="dk1"/>
                </a:solidFill>
              </a:rPr>
              <a:t> </a:t>
            </a:r>
            <a:r>
              <a:rPr lang="en">
                <a:solidFill>
                  <a:schemeClr val="dk1"/>
                </a:solidFill>
              </a:rPr>
              <a:t>Product Related</a:t>
            </a:r>
            <a:r>
              <a:rPr lang="en">
                <a:solidFill>
                  <a:schemeClr val="dk1"/>
                </a:solidFill>
              </a:rPr>
              <a:t>, </a:t>
            </a:r>
            <a:r>
              <a:rPr lang="en">
                <a:solidFill>
                  <a:schemeClr val="dk1"/>
                </a:solidFill>
              </a:rPr>
              <a:t>Page Values</a:t>
            </a:r>
            <a:r>
              <a:rPr lang="en">
                <a:solidFill>
                  <a:schemeClr val="dk1"/>
                </a:solidFill>
              </a:rPr>
              <a:t>, and ExitRates were the strongest predictors of purchase.</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Returning Visitors had higher chances of making purchases than New Visitors.</a:t>
            </a:r>
            <a:br>
              <a:rPr lang="en">
                <a:solidFill>
                  <a:schemeClr val="dk1"/>
                </a:solidFill>
              </a:rPr>
            </a:b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
                <a:solidFill>
                  <a:schemeClr val="dk1"/>
                </a:solidFill>
              </a:rPr>
              <a:t>Seasonal effects (November, December) showed higher conversion rates due to holidays.</a:t>
            </a:r>
            <a:br>
              <a:rPr lang="en">
                <a:solidFill>
                  <a:schemeClr val="dk1"/>
                </a:solidFill>
              </a:rPr>
            </a:br>
            <a:endParaRPr>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44" name="Shape 144"/>
        <p:cNvGrpSpPr/>
        <p:nvPr/>
      </p:nvGrpSpPr>
      <p:grpSpPr>
        <a:xfrm>
          <a:off x="0" y="0"/>
          <a:ext cx="0" cy="0"/>
          <a:chOff x="0" y="0"/>
          <a:chExt cx="0" cy="0"/>
        </a:xfrm>
      </p:grpSpPr>
      <p:sp>
        <p:nvSpPr>
          <p:cNvPr id="145" name="Google Shape;145;p29"/>
          <p:cNvSpPr txBox="1"/>
          <p:nvPr>
            <p:ph type="title"/>
          </p:nvPr>
        </p:nvSpPr>
        <p:spPr>
          <a:xfrm>
            <a:off x="420425" y="205750"/>
            <a:ext cx="2039400" cy="375000"/>
          </a:xfrm>
          <a:prstGeom prst="rect">
            <a:avLst/>
          </a:prstGeom>
          <a:solidFill>
            <a:srgbClr val="C9DAF8"/>
          </a:solidFill>
        </p:spPr>
        <p:txBody>
          <a:bodyPr anchorCtr="0" anchor="t" bIns="91425" lIns="91425" spcFirstLastPara="1" rIns="91425" wrap="square" tIns="91425">
            <a:noAutofit/>
          </a:bodyPr>
          <a:lstStyle/>
          <a:p>
            <a:pPr indent="0" lvl="0" marL="0" rtl="0" algn="l">
              <a:lnSpc>
                <a:spcPct val="115000"/>
              </a:lnSpc>
              <a:spcBef>
                <a:spcPts val="1800"/>
              </a:spcBef>
              <a:spcAft>
                <a:spcPts val="400"/>
              </a:spcAft>
              <a:buClr>
                <a:schemeClr val="dk1"/>
              </a:buClr>
              <a:buSzPts val="1100"/>
              <a:buFont typeface="Arial"/>
              <a:buNone/>
            </a:pPr>
            <a:r>
              <a:rPr b="1" lang="en" sz="1800">
                <a:latin typeface="Lexend"/>
                <a:ea typeface="Lexend"/>
                <a:cs typeface="Lexend"/>
                <a:sym typeface="Lexend"/>
              </a:rPr>
              <a:t>SUGGESTIONS</a:t>
            </a:r>
            <a:endParaRPr sz="1800">
              <a:latin typeface="Lexend"/>
              <a:ea typeface="Lexend"/>
              <a:cs typeface="Lexend"/>
              <a:sym typeface="Lexend"/>
            </a:endParaRPr>
          </a:p>
        </p:txBody>
      </p:sp>
      <p:sp>
        <p:nvSpPr>
          <p:cNvPr id="146" name="Google Shape;146;p29"/>
          <p:cNvSpPr txBox="1"/>
          <p:nvPr>
            <p:ph idx="1" type="body"/>
          </p:nvPr>
        </p:nvSpPr>
        <p:spPr>
          <a:xfrm>
            <a:off x="311700" y="863550"/>
            <a:ext cx="8520600" cy="3416400"/>
          </a:xfrm>
          <a:prstGeom prst="rect">
            <a:avLst/>
          </a:prstGeom>
        </p:spPr>
        <p:txBody>
          <a:bodyPr anchorCtr="0" anchor="t" bIns="91425" lIns="91425" spcFirstLastPara="1" rIns="91425" wrap="square" tIns="91425">
            <a:noAutofit/>
          </a:bodyPr>
          <a:lstStyle/>
          <a:p>
            <a:pPr indent="-317500" lvl="0" marL="457200" rtl="0" algn="l">
              <a:spcBef>
                <a:spcPts val="1200"/>
              </a:spcBef>
              <a:spcAft>
                <a:spcPts val="0"/>
              </a:spcAft>
              <a:buClr>
                <a:schemeClr val="dk1"/>
              </a:buClr>
              <a:buSzPts val="1400"/>
              <a:buFont typeface="Lato"/>
              <a:buAutoNum type="arabicPeriod"/>
            </a:pPr>
            <a:r>
              <a:rPr b="1" lang="en" sz="1400">
                <a:solidFill>
                  <a:schemeClr val="dk1"/>
                </a:solidFill>
                <a:latin typeface="Lato"/>
                <a:ea typeface="Lato"/>
                <a:cs typeface="Lato"/>
                <a:sym typeface="Lato"/>
              </a:rPr>
              <a:t>Business Strategy Optimization</a:t>
            </a:r>
            <a:br>
              <a:rPr b="1" lang="en" sz="1400">
                <a:solidFill>
                  <a:schemeClr val="dk1"/>
                </a:solidFill>
                <a:latin typeface="Lato"/>
                <a:ea typeface="Lato"/>
                <a:cs typeface="Lato"/>
                <a:sym typeface="Lato"/>
              </a:rPr>
            </a:br>
            <a:endParaRPr b="1" sz="1400">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Char char="○"/>
            </a:pPr>
            <a:r>
              <a:rPr lang="en">
                <a:solidFill>
                  <a:schemeClr val="dk1"/>
                </a:solidFill>
                <a:latin typeface="Lato"/>
                <a:ea typeface="Lato"/>
                <a:cs typeface="Lato"/>
                <a:sym typeface="Lato"/>
              </a:rPr>
              <a:t>Focus on improving </a:t>
            </a:r>
            <a:r>
              <a:rPr lang="en">
                <a:solidFill>
                  <a:schemeClr val="dk1"/>
                </a:solidFill>
                <a:latin typeface="Lato"/>
                <a:ea typeface="Lato"/>
                <a:cs typeface="Lato"/>
                <a:sym typeface="Lato"/>
              </a:rPr>
              <a:t>Product Related</a:t>
            </a:r>
            <a:r>
              <a:rPr lang="en">
                <a:solidFill>
                  <a:schemeClr val="dk1"/>
                </a:solidFill>
                <a:latin typeface="Lato"/>
                <a:ea typeface="Lato"/>
                <a:cs typeface="Lato"/>
                <a:sym typeface="Lato"/>
              </a:rPr>
              <a:t> pages and </a:t>
            </a:r>
            <a:r>
              <a:rPr lang="en">
                <a:solidFill>
                  <a:schemeClr val="dk1"/>
                </a:solidFill>
                <a:latin typeface="Lato"/>
                <a:ea typeface="Lato"/>
                <a:cs typeface="Lato"/>
                <a:sym typeface="Lato"/>
              </a:rPr>
              <a:t>Page Values</a:t>
            </a:r>
            <a:r>
              <a:rPr lang="en">
                <a:solidFill>
                  <a:schemeClr val="dk1"/>
                </a:solidFill>
                <a:latin typeface="Lato"/>
                <a:ea typeface="Lato"/>
                <a:cs typeface="Lato"/>
                <a:sym typeface="Lato"/>
              </a:rPr>
              <a:t>, as they directly influence purchase intent.</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Char char="○"/>
            </a:pPr>
            <a:r>
              <a:rPr lang="en">
                <a:solidFill>
                  <a:schemeClr val="dk1"/>
                </a:solidFill>
                <a:latin typeface="Lato"/>
                <a:ea typeface="Lato"/>
                <a:cs typeface="Lato"/>
                <a:sym typeface="Lato"/>
              </a:rPr>
              <a:t>Reduce ExitRates by optimizing checkout and payment pages.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spcBef>
                <a:spcPts val="0"/>
              </a:spcBef>
              <a:spcAft>
                <a:spcPts val="0"/>
              </a:spcAft>
              <a:buClr>
                <a:schemeClr val="dk1"/>
              </a:buClr>
              <a:buSzPts val="1400"/>
              <a:buFont typeface="Lato"/>
              <a:buAutoNum type="arabicPeriod"/>
            </a:pPr>
            <a:r>
              <a:rPr b="1" lang="en" sz="1400">
                <a:solidFill>
                  <a:schemeClr val="dk1"/>
                </a:solidFill>
                <a:latin typeface="Lato"/>
                <a:ea typeface="Lato"/>
                <a:cs typeface="Lato"/>
                <a:sym typeface="Lato"/>
              </a:rPr>
              <a:t>Personalized Marketing</a:t>
            </a:r>
            <a:br>
              <a:rPr b="1" lang="en" sz="1400">
                <a:solidFill>
                  <a:schemeClr val="dk1"/>
                </a:solidFill>
                <a:latin typeface="Lato"/>
                <a:ea typeface="Lato"/>
                <a:cs typeface="Lato"/>
                <a:sym typeface="Lato"/>
              </a:rPr>
            </a:br>
            <a:endParaRPr b="1" sz="1400">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Char char="○"/>
            </a:pPr>
            <a:r>
              <a:rPr lang="en">
                <a:solidFill>
                  <a:schemeClr val="dk1"/>
                </a:solidFill>
                <a:latin typeface="Lato"/>
                <a:ea typeface="Lato"/>
                <a:cs typeface="Lato"/>
                <a:sym typeface="Lato"/>
              </a:rPr>
              <a:t>Target Returning Visitors with special promotions and loyalty programs.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1" marL="914400" rtl="0" algn="l">
              <a:spcBef>
                <a:spcPts val="0"/>
              </a:spcBef>
              <a:spcAft>
                <a:spcPts val="0"/>
              </a:spcAft>
              <a:buClr>
                <a:schemeClr val="dk1"/>
              </a:buClr>
              <a:buSzPts val="1400"/>
              <a:buChar char="○"/>
            </a:pPr>
            <a:r>
              <a:rPr lang="en">
                <a:solidFill>
                  <a:schemeClr val="dk1"/>
                </a:solidFill>
                <a:latin typeface="Lato"/>
                <a:ea typeface="Lato"/>
                <a:cs typeface="Lato"/>
                <a:sym typeface="Lato"/>
              </a:rPr>
              <a:t>Provide offers during peak shopping months (November, December).</a:t>
            </a:r>
            <a:endParaRPr sz="140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50" name="Shape 150"/>
        <p:cNvGrpSpPr/>
        <p:nvPr/>
      </p:nvGrpSpPr>
      <p:grpSpPr>
        <a:xfrm>
          <a:off x="0" y="0"/>
          <a:ext cx="0" cy="0"/>
          <a:chOff x="0" y="0"/>
          <a:chExt cx="0" cy="0"/>
        </a:xfrm>
      </p:grpSpPr>
      <p:sp>
        <p:nvSpPr>
          <p:cNvPr id="151" name="Google Shape;151;p30"/>
          <p:cNvSpPr txBox="1"/>
          <p:nvPr/>
        </p:nvSpPr>
        <p:spPr>
          <a:xfrm>
            <a:off x="0" y="0"/>
            <a:ext cx="8777700" cy="4326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3.     </a:t>
            </a:r>
            <a:r>
              <a:rPr b="1" lang="en">
                <a:solidFill>
                  <a:schemeClr val="dk1"/>
                </a:solidFill>
                <a:latin typeface="Lato"/>
                <a:ea typeface="Lato"/>
                <a:cs typeface="Lato"/>
                <a:sym typeface="Lato"/>
              </a:rPr>
              <a:t>Customer Retention</a:t>
            </a:r>
            <a:br>
              <a:rPr b="1" lang="en">
                <a:solidFill>
                  <a:schemeClr val="dk1"/>
                </a:solidFill>
                <a:latin typeface="Lato"/>
                <a:ea typeface="Lato"/>
                <a:cs typeface="Lato"/>
                <a:sym typeface="Lato"/>
              </a:rPr>
            </a:br>
            <a:endParaRPr b="1">
              <a:solidFill>
                <a:schemeClr val="dk1"/>
              </a:solidFill>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Use real-time predictions to trigger interventions (e.g., pop-ups, chatbots, or discounts) when a high-intent buyer is about to leave.</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b="1" lang="en">
                <a:solidFill>
                  <a:schemeClr val="dk1"/>
                </a:solidFill>
                <a:latin typeface="Lato"/>
                <a:ea typeface="Lato"/>
                <a:cs typeface="Lato"/>
                <a:sym typeface="Lato"/>
              </a:rPr>
              <a:t>4.       Website Design &amp; User Experience</a:t>
            </a:r>
            <a:br>
              <a:rPr b="1" lang="en">
                <a:solidFill>
                  <a:schemeClr val="dk1"/>
                </a:solidFill>
                <a:latin typeface="Lato"/>
                <a:ea typeface="Lato"/>
                <a:cs typeface="Lato"/>
                <a:sym typeface="Lato"/>
              </a:rPr>
            </a:br>
            <a:endParaRPr b="1">
              <a:solidFill>
                <a:schemeClr val="dk1"/>
              </a:solidFill>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Minimize bounce rates by improving landing page engagement.</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317500" lvl="0" marL="457200" rtl="0" algn="l">
              <a:lnSpc>
                <a:spcPct val="115000"/>
              </a:lnSpc>
              <a:spcBef>
                <a:spcPts val="0"/>
              </a:spcBef>
              <a:spcAft>
                <a:spcPts val="0"/>
              </a:spcAft>
              <a:buClr>
                <a:schemeClr val="dk1"/>
              </a:buClr>
              <a:buSzPts val="1400"/>
              <a:buFont typeface="Lato"/>
              <a:buChar char="●"/>
            </a:pPr>
            <a:r>
              <a:rPr lang="en">
                <a:solidFill>
                  <a:schemeClr val="dk1"/>
                </a:solidFill>
                <a:latin typeface="Lato"/>
                <a:ea typeface="Lato"/>
                <a:cs typeface="Lato"/>
                <a:sym typeface="Lato"/>
              </a:rPr>
              <a:t>Provide easy navigation to product-related sections.</a:t>
            </a:r>
            <a:br>
              <a:rPr lang="en">
                <a:solidFill>
                  <a:schemeClr val="dk1"/>
                </a:solidFill>
                <a:latin typeface="Lato"/>
                <a:ea typeface="Lato"/>
                <a:cs typeface="Lato"/>
                <a:sym typeface="Lato"/>
              </a:rPr>
            </a:br>
            <a:endParaRPr>
              <a:solidFill>
                <a:schemeClr val="dk1"/>
              </a:solidFill>
              <a:latin typeface="Lato"/>
              <a:ea typeface="Lato"/>
              <a:cs typeface="Lato"/>
              <a:sym typeface="Lato"/>
            </a:endParaRPr>
          </a:p>
          <a:p>
            <a:pPr indent="0" lvl="0" marL="0" rtl="0" algn="l">
              <a:lnSpc>
                <a:spcPct val="115000"/>
              </a:lnSpc>
              <a:spcBef>
                <a:spcPts val="1200"/>
              </a:spcBef>
              <a:spcAft>
                <a:spcPts val="0"/>
              </a:spcAft>
              <a:buNone/>
            </a:pPr>
            <a:r>
              <a:rPr b="1" lang="en">
                <a:solidFill>
                  <a:schemeClr val="dk1"/>
                </a:solidFill>
                <a:latin typeface="Lato"/>
                <a:ea typeface="Lato"/>
                <a:cs typeface="Lato"/>
                <a:sym typeface="Lato"/>
              </a:rPr>
              <a:t>5.     Predictive Analytics for Growth</a:t>
            </a:r>
            <a:br>
              <a:rPr b="1" lang="en">
                <a:solidFill>
                  <a:schemeClr val="dk1"/>
                </a:solidFill>
                <a:latin typeface="Lato"/>
                <a:ea typeface="Lato"/>
                <a:cs typeface="Lato"/>
                <a:sym typeface="Lato"/>
              </a:rPr>
            </a:br>
            <a:endParaRPr b="1">
              <a:solidFill>
                <a:schemeClr val="dk1"/>
              </a:solidFill>
              <a:latin typeface="Lato"/>
              <a:ea typeface="Lato"/>
              <a:cs typeface="Lato"/>
              <a:sym typeface="Lato"/>
            </a:endParaRPr>
          </a:p>
          <a:p>
            <a:pPr indent="-317500" lvl="0" marL="457200" rtl="0" algn="l">
              <a:lnSpc>
                <a:spcPct val="115000"/>
              </a:lnSpc>
              <a:spcBef>
                <a:spcPts val="1200"/>
              </a:spcBef>
              <a:spcAft>
                <a:spcPts val="0"/>
              </a:spcAft>
              <a:buClr>
                <a:schemeClr val="dk1"/>
              </a:buClr>
              <a:buSzPts val="1400"/>
              <a:buFont typeface="Lato"/>
              <a:buChar char="●"/>
            </a:pPr>
            <a:r>
              <a:rPr lang="en">
                <a:solidFill>
                  <a:schemeClr val="dk1"/>
                </a:solidFill>
                <a:latin typeface="Lato"/>
                <a:ea typeface="Lato"/>
                <a:cs typeface="Lato"/>
                <a:sym typeface="Lato"/>
              </a:rPr>
              <a:t>Continuously monitor customer behavior and retrain models to adapt to changing trends.</a:t>
            </a:r>
            <a:endParaRPr>
              <a:solidFill>
                <a:schemeClr val="dk1"/>
              </a:solidFill>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55" name="Shape 155"/>
        <p:cNvGrpSpPr/>
        <p:nvPr/>
      </p:nvGrpSpPr>
      <p:grpSpPr>
        <a:xfrm>
          <a:off x="0" y="0"/>
          <a:ext cx="0" cy="0"/>
          <a:chOff x="0" y="0"/>
          <a:chExt cx="0" cy="0"/>
        </a:xfrm>
      </p:grpSpPr>
      <p:sp>
        <p:nvSpPr>
          <p:cNvPr id="156" name="Google Shape;156;p31"/>
          <p:cNvSpPr txBox="1"/>
          <p:nvPr>
            <p:ph type="title"/>
          </p:nvPr>
        </p:nvSpPr>
        <p:spPr>
          <a:xfrm>
            <a:off x="398700" y="123050"/>
            <a:ext cx="2550300" cy="572700"/>
          </a:xfrm>
          <a:prstGeom prst="rect">
            <a:avLst/>
          </a:prstGeom>
          <a:solidFill>
            <a:srgbClr val="C9DAF8"/>
          </a:solidFill>
        </p:spPr>
        <p:txBody>
          <a:bodyPr anchorCtr="0" anchor="t" bIns="91425" lIns="91425" spcFirstLastPara="1" rIns="91425" wrap="square" tIns="91425">
            <a:normAutofit/>
          </a:bodyPr>
          <a:lstStyle/>
          <a:p>
            <a:pPr indent="0" lvl="0" marL="0" rtl="0" algn="l">
              <a:spcBef>
                <a:spcPts val="0"/>
              </a:spcBef>
              <a:spcAft>
                <a:spcPts val="0"/>
              </a:spcAft>
              <a:buNone/>
            </a:pPr>
            <a:r>
              <a:rPr b="1" lang="en" sz="1800">
                <a:latin typeface="Lexend"/>
                <a:ea typeface="Lexend"/>
                <a:cs typeface="Lexend"/>
                <a:sym typeface="Lexend"/>
              </a:rPr>
              <a:t>CONCLUSION</a:t>
            </a:r>
            <a:endParaRPr b="1" sz="1800">
              <a:latin typeface="Lexend"/>
              <a:ea typeface="Lexend"/>
              <a:cs typeface="Lexend"/>
              <a:sym typeface="Lexend"/>
            </a:endParaRPr>
          </a:p>
        </p:txBody>
      </p:sp>
      <p:sp>
        <p:nvSpPr>
          <p:cNvPr id="157" name="Google Shape;157;p31"/>
          <p:cNvSpPr txBox="1"/>
          <p:nvPr>
            <p:ph idx="1" type="body"/>
          </p:nvPr>
        </p:nvSpPr>
        <p:spPr>
          <a:xfrm>
            <a:off x="355200" y="924075"/>
            <a:ext cx="8520600" cy="3742800"/>
          </a:xfrm>
          <a:prstGeom prst="rect">
            <a:avLst/>
          </a:prstGeom>
        </p:spPr>
        <p:txBody>
          <a:bodyPr anchorCtr="0" anchor="t" bIns="91425" lIns="91425" spcFirstLastPara="1" rIns="91425" wrap="square" tIns="91425">
            <a:normAutofit fontScale="85000" lnSpcReduction="10000"/>
          </a:bodyPr>
          <a:lstStyle/>
          <a:p>
            <a:pPr indent="0" lvl="0" marL="0" rtl="0" algn="l">
              <a:spcBef>
                <a:spcPts val="1200"/>
              </a:spcBef>
              <a:spcAft>
                <a:spcPts val="0"/>
              </a:spcAft>
              <a:buClr>
                <a:schemeClr val="dk1"/>
              </a:buClr>
              <a:buSzPct val="61111"/>
              <a:buFont typeface="Arial"/>
              <a:buNone/>
            </a:pPr>
            <a:r>
              <a:rPr lang="en">
                <a:solidFill>
                  <a:schemeClr val="dk1"/>
                </a:solidFill>
                <a:latin typeface="Lato"/>
                <a:ea typeface="Lato"/>
                <a:cs typeface="Lato"/>
                <a:sym typeface="Lato"/>
              </a:rPr>
              <a:t>This project demonstrated how machine learning can effectively predict online shoppers’ purchase intentions by analyzing behavioral, categorical, and temporal features. Among the models tested, Random Forest Classifier emerged as the most accurate and reliable, with ~89–92% prediction accuracy.</a:t>
            </a:r>
            <a:endParaRPr>
              <a:solidFill>
                <a:schemeClr val="dk1"/>
              </a:solidFill>
              <a:latin typeface="Lato"/>
              <a:ea typeface="Lato"/>
              <a:cs typeface="Lato"/>
              <a:sym typeface="Lato"/>
            </a:endParaRPr>
          </a:p>
          <a:p>
            <a:pPr indent="0" lvl="0" marL="0" rtl="0" algn="l">
              <a:spcBef>
                <a:spcPts val="1200"/>
              </a:spcBef>
              <a:spcAft>
                <a:spcPts val="0"/>
              </a:spcAft>
              <a:buClr>
                <a:schemeClr val="dk1"/>
              </a:buClr>
              <a:buSzPct val="61111"/>
              <a:buFont typeface="Arial"/>
              <a:buNone/>
            </a:pPr>
            <a:r>
              <a:rPr lang="en">
                <a:solidFill>
                  <a:schemeClr val="dk1"/>
                </a:solidFill>
                <a:latin typeface="Lato"/>
                <a:ea typeface="Lato"/>
                <a:cs typeface="Lato"/>
                <a:sym typeface="Lato"/>
              </a:rPr>
              <a:t>The findings highlight that </a:t>
            </a:r>
            <a:r>
              <a:rPr lang="en">
                <a:solidFill>
                  <a:schemeClr val="dk1"/>
                </a:solidFill>
                <a:latin typeface="Lato"/>
                <a:ea typeface="Lato"/>
                <a:cs typeface="Lato"/>
                <a:sym typeface="Lato"/>
              </a:rPr>
              <a:t>Product Related</a:t>
            </a:r>
            <a:r>
              <a:rPr lang="en">
                <a:solidFill>
                  <a:schemeClr val="dk1"/>
                </a:solidFill>
                <a:latin typeface="Lato"/>
                <a:ea typeface="Lato"/>
                <a:cs typeface="Lato"/>
                <a:sym typeface="Lato"/>
              </a:rPr>
              <a:t> pages, </a:t>
            </a:r>
            <a:r>
              <a:rPr lang="en">
                <a:solidFill>
                  <a:schemeClr val="dk1"/>
                </a:solidFill>
                <a:latin typeface="Lato"/>
                <a:ea typeface="Lato"/>
                <a:cs typeface="Lato"/>
                <a:sym typeface="Lato"/>
              </a:rPr>
              <a:t>Page Values</a:t>
            </a:r>
            <a:r>
              <a:rPr lang="en">
                <a:solidFill>
                  <a:schemeClr val="dk1"/>
                </a:solidFill>
                <a:latin typeface="Lato"/>
                <a:ea typeface="Lato"/>
                <a:cs typeface="Lato"/>
                <a:sym typeface="Lato"/>
              </a:rPr>
              <a:t>, and </a:t>
            </a:r>
            <a:r>
              <a:rPr lang="en">
                <a:solidFill>
                  <a:schemeClr val="dk1"/>
                </a:solidFill>
                <a:latin typeface="Lato"/>
                <a:ea typeface="Lato"/>
                <a:cs typeface="Lato"/>
                <a:sym typeface="Lato"/>
              </a:rPr>
              <a:t>Exit Rates</a:t>
            </a:r>
            <a:r>
              <a:rPr lang="en">
                <a:solidFill>
                  <a:schemeClr val="dk1"/>
                </a:solidFill>
                <a:latin typeface="Lato"/>
                <a:ea typeface="Lato"/>
                <a:cs typeface="Lato"/>
                <a:sym typeface="Lato"/>
              </a:rPr>
              <a:t> significantly impact purchase likelihood. Business strategies such as improving product page engagement, targeting returning visitors, and offering time-sensitive promotions can enhance conversion rates.</a:t>
            </a:r>
            <a:endParaRPr>
              <a:solidFill>
                <a:schemeClr val="dk1"/>
              </a:solidFill>
              <a:latin typeface="Lato"/>
              <a:ea typeface="Lato"/>
              <a:cs typeface="Lato"/>
              <a:sym typeface="Lato"/>
            </a:endParaRPr>
          </a:p>
          <a:p>
            <a:pPr indent="0" lvl="0" marL="0" rtl="0" algn="l">
              <a:spcBef>
                <a:spcPts val="1200"/>
              </a:spcBef>
              <a:spcAft>
                <a:spcPts val="0"/>
              </a:spcAft>
              <a:buClr>
                <a:schemeClr val="dk1"/>
              </a:buClr>
              <a:buSzPct val="57894"/>
              <a:buFont typeface="Arial"/>
              <a:buNone/>
            </a:pPr>
            <a:r>
              <a:rPr lang="en" sz="1900">
                <a:solidFill>
                  <a:schemeClr val="dk1"/>
                </a:solidFill>
                <a:latin typeface="Lato"/>
                <a:ea typeface="Lato"/>
                <a:cs typeface="Lato"/>
                <a:sym typeface="Lato"/>
              </a:rPr>
              <a:t>By implementing this predictive model, e-commerce businesses can make data-driven decisions, personalize user experiences, and increase overall revenue. Looking ahead, incorporating real-time prediction engines and integrating deep learning techniques could further improve accuracy and adaptability to evolving customer behaviors.</a:t>
            </a:r>
            <a:endParaRPr sz="1900">
              <a:solidFill>
                <a:schemeClr val="dk1"/>
              </a:solidFill>
              <a:latin typeface="Lato"/>
              <a:ea typeface="Lato"/>
              <a:cs typeface="Lato"/>
              <a:sym typeface="Lato"/>
            </a:endParaRPr>
          </a:p>
          <a:p>
            <a:pPr indent="0" lvl="0" marL="0" rtl="0" algn="l">
              <a:spcBef>
                <a:spcPts val="1200"/>
              </a:spcBef>
              <a:spcAft>
                <a:spcPts val="12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B6D7A8"/>
        </a:solidFill>
      </p:bgPr>
    </p:bg>
    <p:spTree>
      <p:nvGrpSpPr>
        <p:cNvPr id="161" name="Shape 161"/>
        <p:cNvGrpSpPr/>
        <p:nvPr/>
      </p:nvGrpSpPr>
      <p:grpSpPr>
        <a:xfrm>
          <a:off x="0" y="0"/>
          <a:ext cx="0" cy="0"/>
          <a:chOff x="0" y="0"/>
          <a:chExt cx="0" cy="0"/>
        </a:xfrm>
      </p:grpSpPr>
      <p:sp>
        <p:nvSpPr>
          <p:cNvPr id="162" name="Google Shape;162;p32"/>
          <p:cNvSpPr txBox="1"/>
          <p:nvPr>
            <p:ph type="title"/>
          </p:nvPr>
        </p:nvSpPr>
        <p:spPr>
          <a:xfrm>
            <a:off x="399875" y="278475"/>
            <a:ext cx="17478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Lexend"/>
                <a:ea typeface="Lexend"/>
                <a:cs typeface="Lexend"/>
                <a:sym typeface="Lexend"/>
              </a:rPr>
              <a:t>Appendix - I</a:t>
            </a:r>
            <a:endParaRPr b="1" sz="1800">
              <a:latin typeface="Lexend"/>
              <a:ea typeface="Lexend"/>
              <a:cs typeface="Lexend"/>
              <a:sym typeface="Lexend"/>
            </a:endParaRPr>
          </a:p>
        </p:txBody>
      </p:sp>
      <p:sp>
        <p:nvSpPr>
          <p:cNvPr id="163" name="Google Shape;163;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64" name="Google Shape;164;p32" title="Screenshot 2025-09-26 123251.png"/>
          <p:cNvPicPr preferRelativeResize="0"/>
          <p:nvPr/>
        </p:nvPicPr>
        <p:blipFill>
          <a:blip r:embed="rId3">
            <a:alphaModFix/>
          </a:blip>
          <a:stretch>
            <a:fillRect/>
          </a:stretch>
        </p:blipFill>
        <p:spPr>
          <a:xfrm>
            <a:off x="311700" y="1152475"/>
            <a:ext cx="8520600" cy="34164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68" name="Shape 168"/>
        <p:cNvGrpSpPr/>
        <p:nvPr/>
      </p:nvGrpSpPr>
      <p:grpSpPr>
        <a:xfrm>
          <a:off x="0" y="0"/>
          <a:ext cx="0" cy="0"/>
          <a:chOff x="0" y="0"/>
          <a:chExt cx="0" cy="0"/>
        </a:xfrm>
      </p:grpSpPr>
      <p:sp>
        <p:nvSpPr>
          <p:cNvPr id="169" name="Google Shape;169;p33"/>
          <p:cNvSpPr txBox="1"/>
          <p:nvPr/>
        </p:nvSpPr>
        <p:spPr>
          <a:xfrm>
            <a:off x="195900" y="87175"/>
            <a:ext cx="2013900" cy="461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800">
                <a:solidFill>
                  <a:schemeClr val="dk1"/>
                </a:solidFill>
                <a:highlight>
                  <a:srgbClr val="C9DAF8"/>
                </a:highlight>
                <a:latin typeface="Lexend"/>
                <a:ea typeface="Lexend"/>
                <a:cs typeface="Lexend"/>
                <a:sym typeface="Lexend"/>
              </a:rPr>
              <a:t>Appendix - II</a:t>
            </a:r>
            <a:endParaRPr sz="1800">
              <a:highlight>
                <a:srgbClr val="C9DAF8"/>
              </a:highlight>
            </a:endParaRPr>
          </a:p>
        </p:txBody>
      </p:sp>
      <p:sp>
        <p:nvSpPr>
          <p:cNvPr id="170" name="Google Shape;170;p33"/>
          <p:cNvSpPr txBox="1"/>
          <p:nvPr/>
        </p:nvSpPr>
        <p:spPr>
          <a:xfrm>
            <a:off x="371900" y="766350"/>
            <a:ext cx="8155800" cy="44406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en">
                <a:solidFill>
                  <a:srgbClr val="008000"/>
                </a:solidFill>
                <a:highlight>
                  <a:srgbClr val="FFFFFF"/>
                </a:highlight>
                <a:latin typeface="Courier New"/>
                <a:ea typeface="Courier New"/>
                <a:cs typeface="Courier New"/>
                <a:sym typeface="Courier New"/>
              </a:rPr>
              <a:t># Step 1: Libraries</a:t>
            </a:r>
            <a:endParaRPr b="1">
              <a:solidFill>
                <a:srgbClr val="008000"/>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pandas </a:t>
            </a:r>
            <a:r>
              <a:rPr b="1" lang="en">
                <a:solidFill>
                  <a:srgbClr val="9723B4"/>
                </a:solidFill>
                <a:highlight>
                  <a:srgbClr val="FFFFFF"/>
                </a:highlight>
                <a:latin typeface="Courier New"/>
                <a:ea typeface="Courier New"/>
                <a:cs typeface="Courier New"/>
                <a:sym typeface="Courier New"/>
              </a:rPr>
              <a:t>as</a:t>
            </a:r>
            <a:r>
              <a:rPr b="1" lang="en">
                <a:solidFill>
                  <a:schemeClr val="dk1"/>
                </a:solidFill>
                <a:highlight>
                  <a:srgbClr val="FFFFFF"/>
                </a:highlight>
                <a:latin typeface="Courier New"/>
                <a:ea typeface="Courier New"/>
                <a:cs typeface="Courier New"/>
                <a:sym typeface="Courier New"/>
              </a:rPr>
              <a:t> pd</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numpy </a:t>
            </a:r>
            <a:r>
              <a:rPr b="1" lang="en">
                <a:solidFill>
                  <a:srgbClr val="9723B4"/>
                </a:solidFill>
                <a:highlight>
                  <a:srgbClr val="FFFFFF"/>
                </a:highlight>
                <a:latin typeface="Courier New"/>
                <a:ea typeface="Courier New"/>
                <a:cs typeface="Courier New"/>
                <a:sym typeface="Courier New"/>
              </a:rPr>
              <a:t>as</a:t>
            </a:r>
            <a:r>
              <a:rPr b="1" lang="en">
                <a:solidFill>
                  <a:schemeClr val="dk1"/>
                </a:solidFill>
                <a:highlight>
                  <a:srgbClr val="FFFFFF"/>
                </a:highlight>
                <a:latin typeface="Courier New"/>
                <a:ea typeface="Courier New"/>
                <a:cs typeface="Courier New"/>
                <a:sym typeface="Courier New"/>
              </a:rPr>
              <a:t> np</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matplotlib.pyplot </a:t>
            </a:r>
            <a:r>
              <a:rPr b="1" lang="en">
                <a:solidFill>
                  <a:srgbClr val="9723B4"/>
                </a:solidFill>
                <a:highlight>
                  <a:srgbClr val="FFFFFF"/>
                </a:highlight>
                <a:latin typeface="Courier New"/>
                <a:ea typeface="Courier New"/>
                <a:cs typeface="Courier New"/>
                <a:sym typeface="Courier New"/>
              </a:rPr>
              <a:t>as</a:t>
            </a:r>
            <a:r>
              <a:rPr b="1" lang="en">
                <a:solidFill>
                  <a:schemeClr val="dk1"/>
                </a:solidFill>
                <a:highlight>
                  <a:srgbClr val="FFFFFF"/>
                </a:highlight>
                <a:latin typeface="Courier New"/>
                <a:ea typeface="Courier New"/>
                <a:cs typeface="Courier New"/>
                <a:sym typeface="Courier New"/>
              </a:rPr>
              <a:t> plt</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seaborn </a:t>
            </a:r>
            <a:r>
              <a:rPr b="1" lang="en">
                <a:solidFill>
                  <a:srgbClr val="9723B4"/>
                </a:solidFill>
                <a:highlight>
                  <a:srgbClr val="FFFFFF"/>
                </a:highlight>
                <a:latin typeface="Courier New"/>
                <a:ea typeface="Courier New"/>
                <a:cs typeface="Courier New"/>
                <a:sym typeface="Courier New"/>
              </a:rPr>
              <a:t>as</a:t>
            </a:r>
            <a:r>
              <a:rPr b="1" lang="en">
                <a:solidFill>
                  <a:schemeClr val="dk1"/>
                </a:solidFill>
                <a:highlight>
                  <a:srgbClr val="FFFFFF"/>
                </a:highlight>
                <a:latin typeface="Courier New"/>
                <a:ea typeface="Courier New"/>
                <a:cs typeface="Courier New"/>
                <a:sym typeface="Courier New"/>
              </a:rPr>
              <a:t> sns</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sklearn.model_selection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train_test_split,GridSearchCV</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sklearn.preprocessing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LabelEncoder, StandardScaler</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sklearn.metrics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accuracy_score, confusion_matrix, classification_report</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sklearn.neighbors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KNeighborsClassifier</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sklearn.tree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DecisionTreeClassifier</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sklearn.linear_model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LogisticRegression</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rPr b="1" lang="en">
                <a:solidFill>
                  <a:srgbClr val="9723B4"/>
                </a:solidFill>
                <a:highlight>
                  <a:srgbClr val="FFFFFF"/>
                </a:highlight>
                <a:latin typeface="Courier New"/>
                <a:ea typeface="Courier New"/>
                <a:cs typeface="Courier New"/>
                <a:sym typeface="Courier New"/>
              </a:rPr>
              <a:t>from</a:t>
            </a:r>
            <a:r>
              <a:rPr b="1" lang="en">
                <a:solidFill>
                  <a:schemeClr val="dk1"/>
                </a:solidFill>
                <a:highlight>
                  <a:srgbClr val="FFFFFF"/>
                </a:highlight>
                <a:latin typeface="Courier New"/>
                <a:ea typeface="Courier New"/>
                <a:cs typeface="Courier New"/>
                <a:sym typeface="Courier New"/>
              </a:rPr>
              <a:t> sklearn.ensemble </a:t>
            </a:r>
            <a:r>
              <a:rPr b="1" lang="en">
                <a:solidFill>
                  <a:srgbClr val="9723B4"/>
                </a:solidFill>
                <a:highlight>
                  <a:srgbClr val="FFFFFF"/>
                </a:highlight>
                <a:latin typeface="Courier New"/>
                <a:ea typeface="Courier New"/>
                <a:cs typeface="Courier New"/>
                <a:sym typeface="Courier New"/>
              </a:rPr>
              <a:t>import</a:t>
            </a:r>
            <a:r>
              <a:rPr b="1" lang="en">
                <a:solidFill>
                  <a:schemeClr val="dk1"/>
                </a:solidFill>
                <a:highlight>
                  <a:srgbClr val="FFFFFF"/>
                </a:highlight>
                <a:latin typeface="Courier New"/>
                <a:ea typeface="Courier New"/>
                <a:cs typeface="Courier New"/>
                <a:sym typeface="Courier New"/>
              </a:rPr>
              <a:t> RandomForestClassifier</a:t>
            </a:r>
            <a:endParaRPr b="1">
              <a:solidFill>
                <a:schemeClr val="dk1"/>
              </a:solidFill>
              <a:highlight>
                <a:srgbClr val="FFFFFF"/>
              </a:highlight>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chemeClr val="dk1"/>
              </a:solidFill>
              <a:highlight>
                <a:srgbClr val="FFFFFF"/>
              </a:highlight>
              <a:latin typeface="Courier New"/>
              <a:ea typeface="Courier New"/>
              <a:cs typeface="Courier New"/>
              <a:sym typeface="Courier New"/>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74" name="Shape 174"/>
        <p:cNvGrpSpPr/>
        <p:nvPr/>
      </p:nvGrpSpPr>
      <p:grpSpPr>
        <a:xfrm>
          <a:off x="0" y="0"/>
          <a:ext cx="0" cy="0"/>
          <a:chOff x="0" y="0"/>
          <a:chExt cx="0" cy="0"/>
        </a:xfrm>
      </p:grpSpPr>
      <p:sp>
        <p:nvSpPr>
          <p:cNvPr id="175" name="Google Shape;175;p34"/>
          <p:cNvSpPr txBox="1"/>
          <p:nvPr/>
        </p:nvSpPr>
        <p:spPr>
          <a:xfrm>
            <a:off x="345375" y="195950"/>
            <a:ext cx="8215800" cy="450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highlight>
                  <a:srgbClr val="A4C2F4"/>
                </a:highlight>
              </a:rPr>
              <a:t># **Load Dataset**</a:t>
            </a:r>
            <a:endParaRPr b="1" sz="1100">
              <a:highlight>
                <a:srgbClr val="A4C2F4"/>
              </a:highlight>
            </a:endParaRPr>
          </a:p>
          <a:p>
            <a:pPr indent="0" lvl="0" marL="0" rtl="0" algn="l">
              <a:spcBef>
                <a:spcPts val="0"/>
              </a:spcBef>
              <a:spcAft>
                <a:spcPts val="0"/>
              </a:spcAft>
              <a:buNone/>
            </a:pPr>
            <a:r>
              <a:t/>
            </a:r>
            <a:endParaRPr sz="1100"/>
          </a:p>
          <a:p>
            <a:pPr indent="0" lvl="0" marL="0" rtl="0" algn="l">
              <a:spcBef>
                <a:spcPts val="0"/>
              </a:spcBef>
              <a:spcAft>
                <a:spcPts val="0"/>
              </a:spcAft>
              <a:buNone/>
            </a:pPr>
            <a:r>
              <a:rPr lang="en" sz="1100"/>
              <a:t>df = pd.read_csv("/content/online_shoppers_intention.csv")</a:t>
            </a:r>
            <a:endParaRPr sz="1100"/>
          </a:p>
          <a:p>
            <a:pPr indent="0" lvl="0" marL="0" rtl="0" algn="l">
              <a:spcBef>
                <a:spcPts val="0"/>
              </a:spcBef>
              <a:spcAft>
                <a:spcPts val="0"/>
              </a:spcAft>
              <a:buNone/>
            </a:pPr>
            <a:r>
              <a:rPr lang="en" sz="1100"/>
              <a:t>print("Shape :",df.shape)</a:t>
            </a:r>
            <a:endParaRPr sz="1100"/>
          </a:p>
          <a:p>
            <a:pPr indent="0" lvl="0" marL="0" rtl="0" algn="l">
              <a:spcBef>
                <a:spcPts val="0"/>
              </a:spcBef>
              <a:spcAft>
                <a:spcPts val="0"/>
              </a:spcAft>
              <a:buNone/>
            </a:pPr>
            <a:r>
              <a:rPr lang="en" sz="1100"/>
              <a:t>df.head()</a:t>
            </a:r>
            <a:endParaRPr sz="1100"/>
          </a:p>
          <a:p>
            <a:pPr indent="0" lvl="0" marL="0" rtl="0" algn="l">
              <a:spcBef>
                <a:spcPts val="0"/>
              </a:spcBef>
              <a:spcAft>
                <a:spcPts val="0"/>
              </a:spcAft>
              <a:buNone/>
            </a:pPr>
            <a:r>
              <a:rPr lang="en" sz="1100"/>
              <a:t>df.tail()</a:t>
            </a:r>
            <a:endParaRPr sz="1100"/>
          </a:p>
          <a:p>
            <a:pPr indent="0" lvl="0" marL="0" rtl="0" algn="l">
              <a:spcBef>
                <a:spcPts val="0"/>
              </a:spcBef>
              <a:spcAft>
                <a:spcPts val="0"/>
              </a:spcAft>
              <a:buNone/>
            </a:pPr>
            <a:r>
              <a:rPr lang="en" sz="1100"/>
              <a:t>print(df.info())</a:t>
            </a:r>
            <a:endParaRPr sz="1100"/>
          </a:p>
          <a:p>
            <a:pPr indent="0" lvl="0" marL="0" rtl="0" algn="l">
              <a:spcBef>
                <a:spcPts val="0"/>
              </a:spcBef>
              <a:spcAft>
                <a:spcPts val="0"/>
              </a:spcAft>
              <a:buNone/>
            </a:pPr>
            <a:r>
              <a:rPr lang="en" sz="1100"/>
              <a:t>print(df.describe())</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highlight>
                  <a:srgbClr val="A4C2F4"/>
                </a:highlight>
              </a:rPr>
              <a:t># **Exploratory Data Analysis(EDA)**</a:t>
            </a:r>
            <a:endParaRPr b="1" sz="1100">
              <a:highlight>
                <a:srgbClr val="A4C2F4"/>
              </a:highlight>
            </a:endParaRPr>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 Distribution of Purchase Decision</a:t>
            </a:r>
            <a:endParaRPr b="1" sz="1100"/>
          </a:p>
          <a:p>
            <a:pPr indent="0" lvl="0" marL="0" rtl="0" algn="l">
              <a:spcBef>
                <a:spcPts val="0"/>
              </a:spcBef>
              <a:spcAft>
                <a:spcPts val="0"/>
              </a:spcAft>
              <a:buNone/>
            </a:pPr>
            <a:r>
              <a:rPr lang="en" sz="1100"/>
              <a:t>sns.countplot(data=df, x='Revenue', palette='Set2')</a:t>
            </a:r>
            <a:endParaRPr sz="1100"/>
          </a:p>
          <a:p>
            <a:pPr indent="0" lvl="0" marL="0" rtl="0" algn="l">
              <a:spcBef>
                <a:spcPts val="0"/>
              </a:spcBef>
              <a:spcAft>
                <a:spcPts val="0"/>
              </a:spcAft>
              <a:buNone/>
            </a:pPr>
            <a:r>
              <a:rPr lang="en" sz="1100"/>
              <a:t>plt.title("Distribution of Purchase Decision")</a:t>
            </a:r>
            <a:endParaRPr sz="1100"/>
          </a:p>
          <a:p>
            <a:pPr indent="0" lvl="0" marL="0" rtl="0" algn="l">
              <a:spcBef>
                <a:spcPts val="0"/>
              </a:spcBef>
              <a:spcAft>
                <a:spcPts val="0"/>
              </a:spcAft>
              <a:buNone/>
            </a:pPr>
            <a:r>
              <a:rPr lang="en" sz="1100"/>
              <a:t>plt.show()</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b="1" lang="en" sz="1100"/>
              <a:t># </a:t>
            </a:r>
            <a:r>
              <a:rPr b="1" lang="en" sz="1100"/>
              <a:t>Distribution</a:t>
            </a:r>
            <a:r>
              <a:rPr b="1" lang="en" sz="1100"/>
              <a:t> of Key Numeric Features</a:t>
            </a:r>
            <a:endParaRPr b="1" sz="1100"/>
          </a:p>
          <a:p>
            <a:pPr indent="0" lvl="0" marL="0" rtl="0" algn="l">
              <a:spcBef>
                <a:spcPts val="0"/>
              </a:spcBef>
              <a:spcAft>
                <a:spcPts val="0"/>
              </a:spcAft>
              <a:buNone/>
            </a:pPr>
            <a:r>
              <a:rPr lang="en" sz="1100"/>
              <a:t>num_cols = ['Administrative', 'Informational', '</a:t>
            </a:r>
            <a:r>
              <a:rPr lang="en" sz="1100"/>
              <a:t>Product Related</a:t>
            </a:r>
            <a:r>
              <a:rPr lang="en" sz="1100"/>
              <a:t>',</a:t>
            </a:r>
            <a:endParaRPr sz="1100"/>
          </a:p>
          <a:p>
            <a:pPr indent="0" lvl="0" marL="0" rtl="0" algn="l">
              <a:spcBef>
                <a:spcPts val="0"/>
              </a:spcBef>
              <a:spcAft>
                <a:spcPts val="0"/>
              </a:spcAft>
              <a:buNone/>
            </a:pPr>
            <a:r>
              <a:rPr lang="en" sz="1100"/>
              <a:t>            '</a:t>
            </a:r>
            <a:r>
              <a:rPr lang="en" sz="1100"/>
              <a:t>Bounce Rates</a:t>
            </a:r>
            <a:r>
              <a:rPr lang="en" sz="1100"/>
              <a:t>', 'ExitRates', '</a:t>
            </a:r>
            <a:r>
              <a:rPr lang="en" sz="1100"/>
              <a:t>Page Values</a:t>
            </a:r>
            <a:r>
              <a:rPr lang="en" sz="1100"/>
              <a:t>']</a:t>
            </a:r>
            <a:endParaRPr sz="1100"/>
          </a:p>
          <a:p>
            <a:pPr indent="0" lvl="0" marL="0" rtl="0" algn="l">
              <a:spcBef>
                <a:spcPts val="0"/>
              </a:spcBef>
              <a:spcAft>
                <a:spcPts val="0"/>
              </a:spcAft>
              <a:buNone/>
            </a:pPr>
            <a:r>
              <a:t/>
            </a:r>
            <a:endParaRPr sz="1100"/>
          </a:p>
          <a:p>
            <a:pPr indent="0" lvl="0" marL="0" rtl="0" algn="l">
              <a:spcBef>
                <a:spcPts val="0"/>
              </a:spcBef>
              <a:spcAft>
                <a:spcPts val="0"/>
              </a:spcAft>
              <a:buNone/>
            </a:pPr>
            <a:r>
              <a:rPr lang="en" sz="1100"/>
              <a:t>df[num_cols].hist(bins=20, figsize=(12,8), color='skyblue')</a:t>
            </a:r>
            <a:endParaRPr sz="1100"/>
          </a:p>
          <a:p>
            <a:pPr indent="0" lvl="0" marL="0" rtl="0" algn="l">
              <a:spcBef>
                <a:spcPts val="0"/>
              </a:spcBef>
              <a:spcAft>
                <a:spcPts val="0"/>
              </a:spcAft>
              <a:buNone/>
            </a:pPr>
            <a:r>
              <a:rPr lang="en" sz="1100"/>
              <a:t>plt.suptitle("Distributions of Key Numeric Features")</a:t>
            </a:r>
            <a:endParaRPr sz="1100"/>
          </a:p>
          <a:p>
            <a:pPr indent="0" lvl="0" marL="0" rtl="0" algn="l">
              <a:spcBef>
                <a:spcPts val="0"/>
              </a:spcBef>
              <a:spcAft>
                <a:spcPts val="0"/>
              </a:spcAft>
              <a:buNone/>
            </a:pPr>
            <a:r>
              <a:rPr lang="en" sz="1100"/>
              <a:t>plt.show()</a:t>
            </a:r>
            <a:endParaRPr sz="1100"/>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79" name="Shape 179"/>
        <p:cNvGrpSpPr/>
        <p:nvPr/>
      </p:nvGrpSpPr>
      <p:grpSpPr>
        <a:xfrm>
          <a:off x="0" y="0"/>
          <a:ext cx="0" cy="0"/>
          <a:chOff x="0" y="0"/>
          <a:chExt cx="0" cy="0"/>
        </a:xfrm>
      </p:grpSpPr>
      <p:sp>
        <p:nvSpPr>
          <p:cNvPr id="180" name="Google Shape;180;p35"/>
          <p:cNvSpPr txBox="1"/>
          <p:nvPr/>
        </p:nvSpPr>
        <p:spPr>
          <a:xfrm>
            <a:off x="118200" y="339900"/>
            <a:ext cx="8907600" cy="4494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 Correlation Heatmap</a:t>
            </a:r>
            <a:endParaRPr b="1" sz="1100">
              <a:solidFill>
                <a:schemeClr val="dk1"/>
              </a:solidFill>
            </a:endParaRPr>
          </a:p>
          <a:p>
            <a:pPr indent="0" lvl="0" marL="0" rtl="0" algn="l">
              <a:spcBef>
                <a:spcPts val="0"/>
              </a:spcBef>
              <a:spcAft>
                <a:spcPts val="0"/>
              </a:spcAft>
              <a:buNone/>
            </a:pPr>
            <a:r>
              <a:rPr lang="en" sz="1100">
                <a:solidFill>
                  <a:schemeClr val="dk1"/>
                </a:solidFill>
              </a:rPr>
              <a:t>plt.figure(figsize=(10,6))</a:t>
            </a:r>
            <a:endParaRPr sz="1100">
              <a:solidFill>
                <a:schemeClr val="dk1"/>
              </a:solidFill>
            </a:endParaRPr>
          </a:p>
          <a:p>
            <a:pPr indent="0" lvl="0" marL="0" rtl="0" algn="l">
              <a:spcBef>
                <a:spcPts val="0"/>
              </a:spcBef>
              <a:spcAft>
                <a:spcPts val="0"/>
              </a:spcAft>
              <a:buNone/>
            </a:pPr>
            <a:r>
              <a:rPr lang="en" sz="1100">
                <a:solidFill>
                  <a:schemeClr val="dk1"/>
                </a:solidFill>
              </a:rPr>
              <a:t>sns.heatmap(df[num_cols + ['Revenue']].corr(), annot=True, cmap='coolwarm')</a:t>
            </a:r>
            <a:endParaRPr sz="1100">
              <a:solidFill>
                <a:schemeClr val="dk1"/>
              </a:solidFill>
            </a:endParaRPr>
          </a:p>
          <a:p>
            <a:pPr indent="0" lvl="0" marL="0" rtl="0" algn="l">
              <a:spcBef>
                <a:spcPts val="0"/>
              </a:spcBef>
              <a:spcAft>
                <a:spcPts val="0"/>
              </a:spcAft>
              <a:buNone/>
            </a:pPr>
            <a:r>
              <a:rPr lang="en" sz="1100">
                <a:solidFill>
                  <a:schemeClr val="dk1"/>
                </a:solidFill>
              </a:rPr>
              <a:t>plt.title("Correlation Heatmap")</a:t>
            </a:r>
            <a:endParaRPr sz="1100">
              <a:solidFill>
                <a:schemeClr val="dk1"/>
              </a:solidFill>
            </a:endParaRPr>
          </a:p>
          <a:p>
            <a:pPr indent="0" lvl="0" marL="0" rtl="0" algn="l">
              <a:spcBef>
                <a:spcPts val="0"/>
              </a:spcBef>
              <a:spcAft>
                <a:spcPts val="0"/>
              </a:spcAft>
              <a:buNone/>
            </a:pPr>
            <a:r>
              <a:rPr lang="en" sz="1100">
                <a:solidFill>
                  <a:schemeClr val="dk1"/>
                </a:solidFill>
              </a:rPr>
              <a:t>plt.show()</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200">
                <a:solidFill>
                  <a:schemeClr val="dk1"/>
                </a:solidFill>
                <a:highlight>
                  <a:srgbClr val="A4C2F4"/>
                </a:highlight>
              </a:rPr>
              <a:t># **Data Preprocessing*</a:t>
            </a:r>
            <a:r>
              <a:rPr b="1" lang="en" sz="1100">
                <a:solidFill>
                  <a:schemeClr val="dk1"/>
                </a:solidFill>
                <a:highlight>
                  <a:srgbClr val="A4C2F4"/>
                </a:highlight>
              </a:rPr>
              <a:t>*</a:t>
            </a:r>
            <a:endParaRPr b="1" sz="1100">
              <a:solidFill>
                <a:schemeClr val="dk1"/>
              </a:solidFill>
              <a:highlight>
                <a:srgbClr val="A4C2F4"/>
              </a:highlight>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print(df.isnull().sum())</a:t>
            </a:r>
            <a:endParaRPr sz="1100">
              <a:solidFill>
                <a:schemeClr val="dk1"/>
              </a:solidFill>
            </a:endParaRPr>
          </a:p>
          <a:p>
            <a:pPr indent="0" lvl="0" marL="0" rtl="0" algn="l">
              <a:spcBef>
                <a:spcPts val="0"/>
              </a:spcBef>
              <a:spcAft>
                <a:spcPts val="0"/>
              </a:spcAft>
              <a:buNone/>
            </a:pPr>
            <a:r>
              <a:t/>
            </a:r>
            <a:endParaRPr sz="1200">
              <a:solidFill>
                <a:schemeClr val="dk1"/>
              </a:solidFill>
            </a:endParaRPr>
          </a:p>
          <a:p>
            <a:pPr indent="0" lvl="0" marL="0" rtl="0" algn="l">
              <a:spcBef>
                <a:spcPts val="0"/>
              </a:spcBef>
              <a:spcAft>
                <a:spcPts val="0"/>
              </a:spcAft>
              <a:buNone/>
            </a:pPr>
            <a:r>
              <a:rPr b="1" lang="en" sz="1100">
                <a:solidFill>
                  <a:schemeClr val="dk1"/>
                </a:solidFill>
              </a:rPr>
              <a:t># Encode Categorical Variables</a:t>
            </a:r>
            <a:endParaRPr b="1" sz="1100">
              <a:solidFill>
                <a:schemeClr val="dk1"/>
              </a:solidFill>
            </a:endParaRPr>
          </a:p>
          <a:p>
            <a:pPr indent="0" lvl="0" marL="0" rtl="0" algn="l">
              <a:spcBef>
                <a:spcPts val="0"/>
              </a:spcBef>
              <a:spcAft>
                <a:spcPts val="0"/>
              </a:spcAft>
              <a:buNone/>
            </a:pPr>
            <a:r>
              <a:rPr lang="en" sz="1100">
                <a:solidFill>
                  <a:schemeClr val="dk1"/>
                </a:solidFill>
              </a:rPr>
              <a:t>cat_cols = ['Month','</a:t>
            </a:r>
            <a:r>
              <a:rPr lang="en" sz="1100">
                <a:solidFill>
                  <a:schemeClr val="dk1"/>
                </a:solidFill>
              </a:rPr>
              <a:t>Visitor Type</a:t>
            </a:r>
            <a:r>
              <a:rPr lang="en" sz="1100">
                <a:solidFill>
                  <a:schemeClr val="dk1"/>
                </a:solidFill>
              </a:rPr>
              <a:t>','Weekend']</a:t>
            </a:r>
            <a:endParaRPr sz="1100">
              <a:solidFill>
                <a:schemeClr val="dk1"/>
              </a:solidFill>
            </a:endParaRPr>
          </a:p>
          <a:p>
            <a:pPr indent="0" lvl="0" marL="0" rtl="0" algn="l">
              <a:spcBef>
                <a:spcPts val="0"/>
              </a:spcBef>
              <a:spcAft>
                <a:spcPts val="0"/>
              </a:spcAft>
              <a:buNone/>
            </a:pPr>
            <a:r>
              <a:rPr lang="en" sz="1100">
                <a:solidFill>
                  <a:schemeClr val="dk1"/>
                </a:solidFill>
              </a:rPr>
              <a:t>le = LabelEncoder()</a:t>
            </a:r>
            <a:endParaRPr sz="1100">
              <a:solidFill>
                <a:schemeClr val="dk1"/>
              </a:solidFill>
            </a:endParaRPr>
          </a:p>
          <a:p>
            <a:pPr indent="0" lvl="0" marL="0" rtl="0" algn="l">
              <a:spcBef>
                <a:spcPts val="0"/>
              </a:spcBef>
              <a:spcAft>
                <a:spcPts val="0"/>
              </a:spcAft>
              <a:buNone/>
            </a:pPr>
            <a:r>
              <a:rPr lang="en" sz="1100">
                <a:solidFill>
                  <a:schemeClr val="dk1"/>
                </a:solidFill>
              </a:rPr>
              <a:t>for col in cat_cols:</a:t>
            </a:r>
            <a:endParaRPr sz="1100">
              <a:solidFill>
                <a:schemeClr val="dk1"/>
              </a:solidFill>
            </a:endParaRPr>
          </a:p>
          <a:p>
            <a:pPr indent="0" lvl="0" marL="0" rtl="0" algn="l">
              <a:spcBef>
                <a:spcPts val="0"/>
              </a:spcBef>
              <a:spcAft>
                <a:spcPts val="0"/>
              </a:spcAft>
              <a:buNone/>
            </a:pPr>
            <a:r>
              <a:rPr lang="en" sz="1100">
                <a:solidFill>
                  <a:schemeClr val="dk1"/>
                </a:solidFill>
              </a:rPr>
              <a:t>    df[col] = le.fit_transform(df[col])</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 Split Features &amp; Target</a:t>
            </a:r>
            <a:endParaRPr b="1" sz="1100">
              <a:solidFill>
                <a:schemeClr val="dk1"/>
              </a:solidFill>
            </a:endParaRPr>
          </a:p>
          <a:p>
            <a:pPr indent="0" lvl="0" marL="0" rtl="0" algn="l">
              <a:spcBef>
                <a:spcPts val="0"/>
              </a:spcBef>
              <a:spcAft>
                <a:spcPts val="0"/>
              </a:spcAft>
              <a:buNone/>
            </a:pPr>
            <a:r>
              <a:rPr lang="en" sz="1100">
                <a:solidFill>
                  <a:schemeClr val="dk1"/>
                </a:solidFill>
              </a:rPr>
              <a:t>X = df.drop('Revenue', axis=1)</a:t>
            </a:r>
            <a:endParaRPr sz="1100">
              <a:solidFill>
                <a:schemeClr val="dk1"/>
              </a:solidFill>
            </a:endParaRPr>
          </a:p>
          <a:p>
            <a:pPr indent="0" lvl="0" marL="0" rtl="0" algn="l">
              <a:spcBef>
                <a:spcPts val="0"/>
              </a:spcBef>
              <a:spcAft>
                <a:spcPts val="0"/>
              </a:spcAft>
              <a:buNone/>
            </a:pPr>
            <a:r>
              <a:rPr lang="en" sz="1100">
                <a:solidFill>
                  <a:schemeClr val="dk1"/>
                </a:solidFill>
              </a:rPr>
              <a:t>y = df['Revenue']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 Train-Test Split</a:t>
            </a:r>
            <a:endParaRPr b="1" sz="1100">
              <a:solidFill>
                <a:schemeClr val="dk1"/>
              </a:solidFill>
            </a:endParaRPr>
          </a:p>
          <a:p>
            <a:pPr indent="0" lvl="0" marL="0" rtl="0" algn="l">
              <a:spcBef>
                <a:spcPts val="0"/>
              </a:spcBef>
              <a:spcAft>
                <a:spcPts val="0"/>
              </a:spcAft>
              <a:buNone/>
            </a:pPr>
            <a:r>
              <a:rPr lang="en" sz="1100">
                <a:solidFill>
                  <a:schemeClr val="dk1"/>
                </a:solidFill>
              </a:rPr>
              <a:t>X_train, X_test, y_train, y_test = train_test_split(</a:t>
            </a:r>
            <a:endParaRPr sz="1100">
              <a:solidFill>
                <a:schemeClr val="dk1"/>
              </a:solidFill>
            </a:endParaRPr>
          </a:p>
          <a:p>
            <a:pPr indent="0" lvl="0" marL="0" rtl="0" algn="l">
              <a:spcBef>
                <a:spcPts val="0"/>
              </a:spcBef>
              <a:spcAft>
                <a:spcPts val="0"/>
              </a:spcAft>
              <a:buNone/>
            </a:pPr>
            <a:r>
              <a:rPr lang="en" sz="1100">
                <a:solidFill>
                  <a:schemeClr val="dk1"/>
                </a:solidFill>
              </a:rPr>
              <a:t>    X, y, test_size=0.2, random_state=42, stratify=y)</a:t>
            </a:r>
            <a:endParaRPr sz="11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84" name="Shape 184"/>
        <p:cNvGrpSpPr/>
        <p:nvPr/>
      </p:nvGrpSpPr>
      <p:grpSpPr>
        <a:xfrm>
          <a:off x="0" y="0"/>
          <a:ext cx="0" cy="0"/>
          <a:chOff x="0" y="0"/>
          <a:chExt cx="0" cy="0"/>
        </a:xfrm>
      </p:grpSpPr>
      <p:sp>
        <p:nvSpPr>
          <p:cNvPr id="185" name="Google Shape;185;p36"/>
          <p:cNvSpPr txBox="1"/>
          <p:nvPr/>
        </p:nvSpPr>
        <p:spPr>
          <a:xfrm>
            <a:off x="0" y="0"/>
            <a:ext cx="8829300" cy="5233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  Scale Numeric Features</a:t>
            </a:r>
            <a:endParaRPr b="1" sz="1100">
              <a:solidFill>
                <a:schemeClr val="dk1"/>
              </a:solidFill>
            </a:endParaRPr>
          </a:p>
          <a:p>
            <a:pPr indent="0" lvl="0" marL="0" rtl="0" algn="l">
              <a:spcBef>
                <a:spcPts val="0"/>
              </a:spcBef>
              <a:spcAft>
                <a:spcPts val="0"/>
              </a:spcAft>
              <a:buNone/>
            </a:pPr>
            <a:r>
              <a:rPr lang="en" sz="1100">
                <a:solidFill>
                  <a:schemeClr val="dk1"/>
                </a:solidFill>
              </a:rPr>
              <a:t>scaler = StandardScaler()</a:t>
            </a:r>
            <a:endParaRPr sz="1100">
              <a:solidFill>
                <a:schemeClr val="dk1"/>
              </a:solidFill>
            </a:endParaRPr>
          </a:p>
          <a:p>
            <a:pPr indent="0" lvl="0" marL="0" rtl="0" algn="l">
              <a:spcBef>
                <a:spcPts val="0"/>
              </a:spcBef>
              <a:spcAft>
                <a:spcPts val="0"/>
              </a:spcAft>
              <a:buNone/>
            </a:pPr>
            <a:r>
              <a:rPr lang="en" sz="1100">
                <a:solidFill>
                  <a:schemeClr val="dk1"/>
                </a:solidFill>
              </a:rPr>
              <a:t>X_train = scaler.fit_transform(X_train)</a:t>
            </a:r>
            <a:endParaRPr sz="1100">
              <a:solidFill>
                <a:schemeClr val="dk1"/>
              </a:solidFill>
            </a:endParaRPr>
          </a:p>
          <a:p>
            <a:pPr indent="0" lvl="0" marL="0" rtl="0" algn="l">
              <a:spcBef>
                <a:spcPts val="0"/>
              </a:spcBef>
              <a:spcAft>
                <a:spcPts val="0"/>
              </a:spcAft>
              <a:buNone/>
            </a:pPr>
            <a:r>
              <a:rPr lang="en" sz="1100">
                <a:solidFill>
                  <a:schemeClr val="dk1"/>
                </a:solidFill>
              </a:rPr>
              <a:t>X_test = scaler.transform(X_test)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a:solidFill>
                  <a:schemeClr val="dk1"/>
                </a:solidFill>
                <a:highlight>
                  <a:srgbClr val="A4C2F4"/>
                </a:highlight>
              </a:rPr>
              <a:t># **Model Training**</a:t>
            </a:r>
            <a:endParaRPr b="1">
              <a:solidFill>
                <a:schemeClr val="dk1"/>
              </a:solidFill>
              <a:highlight>
                <a:srgbClr val="A4C2F4"/>
              </a:highlight>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**i)</a:t>
            </a:r>
            <a:r>
              <a:rPr b="1" lang="en" sz="1100">
                <a:solidFill>
                  <a:schemeClr val="dk1"/>
                </a:solidFill>
              </a:rPr>
              <a:t>KNeighborsClassifier</a:t>
            </a:r>
            <a:r>
              <a:rPr b="1" lang="en" sz="1100">
                <a:solidFill>
                  <a:schemeClr val="dk1"/>
                </a:solidFill>
              </a:rPr>
              <a:t>**</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knn = KNeighborsClassifier(n_neighbors=5)</a:t>
            </a:r>
            <a:endParaRPr sz="1100">
              <a:solidFill>
                <a:schemeClr val="dk1"/>
              </a:solidFill>
            </a:endParaRPr>
          </a:p>
          <a:p>
            <a:pPr indent="0" lvl="0" marL="0" rtl="0" algn="l">
              <a:spcBef>
                <a:spcPts val="0"/>
              </a:spcBef>
              <a:spcAft>
                <a:spcPts val="0"/>
              </a:spcAft>
              <a:buNone/>
            </a:pPr>
            <a:r>
              <a:rPr lang="en" sz="1100">
                <a:solidFill>
                  <a:schemeClr val="dk1"/>
                </a:solidFill>
              </a:rPr>
              <a:t>knn.fit(X_train, y_train)</a:t>
            </a:r>
            <a:endParaRPr sz="1100">
              <a:solidFill>
                <a:schemeClr val="dk1"/>
              </a:solidFill>
            </a:endParaRPr>
          </a:p>
          <a:p>
            <a:pPr indent="0" lvl="0" marL="0" rtl="0" algn="l">
              <a:spcBef>
                <a:spcPts val="0"/>
              </a:spcBef>
              <a:spcAft>
                <a:spcPts val="0"/>
              </a:spcAft>
              <a:buNone/>
            </a:pPr>
            <a:r>
              <a:rPr lang="en" sz="1100">
                <a:solidFill>
                  <a:schemeClr val="dk1"/>
                </a:solidFill>
              </a:rPr>
              <a:t>y_pred_knn = knn.predict(X_test)</a:t>
            </a:r>
            <a:endParaRPr sz="1100">
              <a:solidFill>
                <a:schemeClr val="dk1"/>
              </a:solidFill>
            </a:endParaRPr>
          </a:p>
          <a:p>
            <a:pPr indent="0" lvl="0" marL="0" rtl="0" algn="l">
              <a:spcBef>
                <a:spcPts val="0"/>
              </a:spcBef>
              <a:spcAft>
                <a:spcPts val="0"/>
              </a:spcAft>
              <a:buNone/>
            </a:pPr>
            <a:r>
              <a:rPr lang="en" sz="1100">
                <a:solidFill>
                  <a:schemeClr val="dk1"/>
                </a:solidFill>
              </a:rPr>
              <a:t>print("KNN Accuracy:", accuracy_score(y_test, y_pred_knn))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**ii)DecisionTreeClassifier**</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dt = DecisionTreeClassifier(random_state=42)</a:t>
            </a:r>
            <a:endParaRPr sz="1100">
              <a:solidFill>
                <a:schemeClr val="dk1"/>
              </a:solidFill>
            </a:endParaRPr>
          </a:p>
          <a:p>
            <a:pPr indent="0" lvl="0" marL="0" rtl="0" algn="l">
              <a:spcBef>
                <a:spcPts val="0"/>
              </a:spcBef>
              <a:spcAft>
                <a:spcPts val="0"/>
              </a:spcAft>
              <a:buNone/>
            </a:pPr>
            <a:r>
              <a:rPr lang="en" sz="1100">
                <a:solidFill>
                  <a:schemeClr val="dk1"/>
                </a:solidFill>
              </a:rPr>
              <a:t>dt.fit(X_train, y_train)</a:t>
            </a:r>
            <a:endParaRPr sz="1100">
              <a:solidFill>
                <a:schemeClr val="dk1"/>
              </a:solidFill>
            </a:endParaRPr>
          </a:p>
          <a:p>
            <a:pPr indent="0" lvl="0" marL="0" rtl="0" algn="l">
              <a:spcBef>
                <a:spcPts val="0"/>
              </a:spcBef>
              <a:spcAft>
                <a:spcPts val="0"/>
              </a:spcAft>
              <a:buNone/>
            </a:pPr>
            <a:r>
              <a:rPr lang="en" sz="1100">
                <a:solidFill>
                  <a:schemeClr val="dk1"/>
                </a:solidFill>
              </a:rPr>
              <a:t>y_pred_dt = dt.predict(X_test)</a:t>
            </a:r>
            <a:endParaRPr sz="1100">
              <a:solidFill>
                <a:schemeClr val="dk1"/>
              </a:solidFill>
            </a:endParaRPr>
          </a:p>
          <a:p>
            <a:pPr indent="0" lvl="0" marL="0" rtl="0" algn="l">
              <a:spcBef>
                <a:spcPts val="0"/>
              </a:spcBef>
              <a:spcAft>
                <a:spcPts val="0"/>
              </a:spcAft>
              <a:buNone/>
            </a:pPr>
            <a:r>
              <a:rPr lang="en" sz="1100">
                <a:solidFill>
                  <a:schemeClr val="dk1"/>
                </a:solidFill>
              </a:rPr>
              <a:t>print("Decision Tree Accuracy:", accuracy_score(y_test, y_pred_dt))</a:t>
            </a:r>
            <a:endParaRPr sz="1100">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b="1" lang="en" sz="1100">
                <a:solidFill>
                  <a:schemeClr val="dk1"/>
                </a:solidFill>
              </a:rPr>
              <a:t>**iii)RandomForestClassifier</a:t>
            </a: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rf = RandomForestClassifier(n_estimators=100, random_state=42)</a:t>
            </a:r>
            <a:endParaRPr sz="1100">
              <a:solidFill>
                <a:schemeClr val="dk1"/>
              </a:solidFill>
            </a:endParaRPr>
          </a:p>
          <a:p>
            <a:pPr indent="0" lvl="0" marL="0" rtl="0" algn="l">
              <a:spcBef>
                <a:spcPts val="0"/>
              </a:spcBef>
              <a:spcAft>
                <a:spcPts val="0"/>
              </a:spcAft>
              <a:buNone/>
            </a:pPr>
            <a:r>
              <a:rPr lang="en" sz="1100">
                <a:solidFill>
                  <a:schemeClr val="dk1"/>
                </a:solidFill>
              </a:rPr>
              <a:t>rf.fit(X_train, y_train)</a:t>
            </a:r>
            <a:endParaRPr sz="1100">
              <a:solidFill>
                <a:schemeClr val="dk1"/>
              </a:solidFill>
            </a:endParaRPr>
          </a:p>
          <a:p>
            <a:pPr indent="0" lvl="0" marL="0" rtl="0" algn="l">
              <a:spcBef>
                <a:spcPts val="0"/>
              </a:spcBef>
              <a:spcAft>
                <a:spcPts val="0"/>
              </a:spcAft>
              <a:buNone/>
            </a:pPr>
            <a:r>
              <a:rPr lang="en" sz="1100">
                <a:solidFill>
                  <a:schemeClr val="dk1"/>
                </a:solidFill>
              </a:rPr>
              <a:t>y_pred_rf = rf.predict(X_test)</a:t>
            </a:r>
            <a:endParaRPr sz="1100">
              <a:solidFill>
                <a:schemeClr val="dk1"/>
              </a:solidFill>
            </a:endParaRPr>
          </a:p>
          <a:p>
            <a:pPr indent="0" lvl="0" marL="0" rtl="0" algn="l">
              <a:spcBef>
                <a:spcPts val="0"/>
              </a:spcBef>
              <a:spcAft>
                <a:spcPts val="0"/>
              </a:spcAft>
              <a:buNone/>
            </a:pPr>
            <a:r>
              <a:rPr lang="en" sz="1100">
                <a:solidFill>
                  <a:schemeClr val="dk1"/>
                </a:solidFill>
              </a:rPr>
              <a:t>print("Random Forest Accuracy:", accuracy_score(y_test, y_pred_rf))</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89" name="Shape 189"/>
        <p:cNvGrpSpPr/>
        <p:nvPr/>
      </p:nvGrpSpPr>
      <p:grpSpPr>
        <a:xfrm>
          <a:off x="0" y="0"/>
          <a:ext cx="0" cy="0"/>
          <a:chOff x="0" y="0"/>
          <a:chExt cx="0" cy="0"/>
        </a:xfrm>
      </p:grpSpPr>
      <p:sp>
        <p:nvSpPr>
          <p:cNvPr id="190" name="Google Shape;190;p37"/>
          <p:cNvSpPr txBox="1"/>
          <p:nvPr/>
        </p:nvSpPr>
        <p:spPr>
          <a:xfrm>
            <a:off x="129325" y="107725"/>
            <a:ext cx="8807700" cy="560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**iv)LogisticRegression**</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lr = LogisticRegression(max_iter=1000)</a:t>
            </a:r>
            <a:endParaRPr sz="1100">
              <a:solidFill>
                <a:schemeClr val="dk1"/>
              </a:solidFill>
            </a:endParaRPr>
          </a:p>
          <a:p>
            <a:pPr indent="0" lvl="0" marL="0" rtl="0" algn="l">
              <a:spcBef>
                <a:spcPts val="0"/>
              </a:spcBef>
              <a:spcAft>
                <a:spcPts val="0"/>
              </a:spcAft>
              <a:buNone/>
            </a:pPr>
            <a:r>
              <a:rPr lang="en" sz="1100">
                <a:solidFill>
                  <a:schemeClr val="dk1"/>
                </a:solidFill>
              </a:rPr>
              <a:t>lr.fit(X_train, y_train)</a:t>
            </a:r>
            <a:endParaRPr sz="1100">
              <a:solidFill>
                <a:schemeClr val="dk1"/>
              </a:solidFill>
            </a:endParaRPr>
          </a:p>
          <a:p>
            <a:pPr indent="0" lvl="0" marL="0" rtl="0" algn="l">
              <a:spcBef>
                <a:spcPts val="0"/>
              </a:spcBef>
              <a:spcAft>
                <a:spcPts val="0"/>
              </a:spcAft>
              <a:buNone/>
            </a:pPr>
            <a:r>
              <a:rPr lang="en" sz="1100">
                <a:solidFill>
                  <a:schemeClr val="dk1"/>
                </a:solidFill>
              </a:rPr>
              <a:t>y_pred_lr = lr.predict(X_test)</a:t>
            </a:r>
            <a:endParaRPr sz="1100">
              <a:solidFill>
                <a:schemeClr val="dk1"/>
              </a:solidFill>
            </a:endParaRPr>
          </a:p>
          <a:p>
            <a:pPr indent="0" lvl="0" marL="0" rtl="0" algn="l">
              <a:spcBef>
                <a:spcPts val="0"/>
              </a:spcBef>
              <a:spcAft>
                <a:spcPts val="0"/>
              </a:spcAft>
              <a:buNone/>
            </a:pPr>
            <a:r>
              <a:rPr lang="en" sz="1100">
                <a:solidFill>
                  <a:schemeClr val="dk1"/>
                </a:solidFill>
              </a:rPr>
              <a:t>print("Logistic Regression Accuracy:", accuracy_score(y_test, y_pred_lr))</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models = {</a:t>
            </a:r>
            <a:endParaRPr sz="1100">
              <a:solidFill>
                <a:schemeClr val="dk1"/>
              </a:solidFill>
            </a:endParaRPr>
          </a:p>
          <a:p>
            <a:pPr indent="0" lvl="0" marL="0" rtl="0" algn="l">
              <a:spcBef>
                <a:spcPts val="0"/>
              </a:spcBef>
              <a:spcAft>
                <a:spcPts val="0"/>
              </a:spcAft>
              <a:buNone/>
            </a:pPr>
            <a:r>
              <a:rPr lang="en" sz="1100">
                <a:solidFill>
                  <a:schemeClr val="dk1"/>
                </a:solidFill>
              </a:rPr>
              <a:t>    "KNN": KNeighborsClassifier(n_neighbors=5),  # default k=5, can tune later</a:t>
            </a:r>
            <a:endParaRPr sz="1100">
              <a:solidFill>
                <a:schemeClr val="dk1"/>
              </a:solidFill>
            </a:endParaRPr>
          </a:p>
          <a:p>
            <a:pPr indent="0" lvl="0" marL="0" rtl="0" algn="l">
              <a:spcBef>
                <a:spcPts val="0"/>
              </a:spcBef>
              <a:spcAft>
                <a:spcPts val="0"/>
              </a:spcAft>
              <a:buNone/>
            </a:pPr>
            <a:r>
              <a:rPr lang="en" sz="1100">
                <a:solidFill>
                  <a:schemeClr val="dk1"/>
                </a:solidFill>
              </a:rPr>
              <a:t>    "Decision Tree": DecisionTreeClassifier(random_state=42),</a:t>
            </a:r>
            <a:endParaRPr sz="1100">
              <a:solidFill>
                <a:schemeClr val="dk1"/>
              </a:solidFill>
            </a:endParaRPr>
          </a:p>
          <a:p>
            <a:pPr indent="0" lvl="0" marL="0" rtl="0" algn="l">
              <a:spcBef>
                <a:spcPts val="0"/>
              </a:spcBef>
              <a:spcAft>
                <a:spcPts val="0"/>
              </a:spcAft>
              <a:buNone/>
            </a:pPr>
            <a:r>
              <a:rPr lang="en" sz="1100">
                <a:solidFill>
                  <a:schemeClr val="dk1"/>
                </a:solidFill>
              </a:rPr>
              <a:t>    "Random Forest": RandomForestClassifier(random_state=42),</a:t>
            </a:r>
            <a:endParaRPr sz="1100">
              <a:solidFill>
                <a:schemeClr val="dk1"/>
              </a:solidFill>
            </a:endParaRPr>
          </a:p>
          <a:p>
            <a:pPr indent="0" lvl="0" marL="0" rtl="0" algn="l">
              <a:spcBef>
                <a:spcPts val="0"/>
              </a:spcBef>
              <a:spcAft>
                <a:spcPts val="0"/>
              </a:spcAft>
              <a:buNone/>
            </a:pPr>
            <a:r>
              <a:rPr lang="en" sz="1100">
                <a:solidFill>
                  <a:schemeClr val="dk1"/>
                </a:solidFill>
              </a:rPr>
              <a:t>    "Logistic Regression": LogisticRegression(max_iter=2000)</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 Dictionary to store accuracies</a:t>
            </a:r>
            <a:endParaRPr b="1" sz="1100">
              <a:solidFill>
                <a:schemeClr val="dk1"/>
              </a:solidFill>
            </a:endParaRPr>
          </a:p>
          <a:p>
            <a:pPr indent="0" lvl="0" marL="0" rtl="0" algn="l">
              <a:spcBef>
                <a:spcPts val="0"/>
              </a:spcBef>
              <a:spcAft>
                <a:spcPts val="0"/>
              </a:spcAft>
              <a:buNone/>
            </a:pPr>
            <a:r>
              <a:rPr lang="en" sz="1100">
                <a:solidFill>
                  <a:schemeClr val="dk1"/>
                </a:solidFill>
              </a:rPr>
              <a:t>accuracies =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b="1" lang="en" sz="1100">
                <a:solidFill>
                  <a:schemeClr val="dk1"/>
                </a:solidFill>
              </a:rPr>
              <a:t># Loop over models</a:t>
            </a:r>
            <a:endParaRPr b="1" sz="1100">
              <a:solidFill>
                <a:schemeClr val="dk1"/>
              </a:solidFill>
            </a:endParaRPr>
          </a:p>
          <a:p>
            <a:pPr indent="0" lvl="0" marL="0" rtl="0" algn="l">
              <a:spcBef>
                <a:spcPts val="0"/>
              </a:spcBef>
              <a:spcAft>
                <a:spcPts val="0"/>
              </a:spcAft>
              <a:buNone/>
            </a:pPr>
            <a:r>
              <a:rPr lang="en" sz="1100">
                <a:solidFill>
                  <a:schemeClr val="dk1"/>
                </a:solidFill>
              </a:rPr>
              <a:t>for name, model in models.items():</a:t>
            </a:r>
            <a:endParaRPr sz="1100">
              <a:solidFill>
                <a:schemeClr val="dk1"/>
              </a:solidFill>
            </a:endParaRPr>
          </a:p>
          <a:p>
            <a:pPr indent="0" lvl="0" marL="0" rtl="0" algn="l">
              <a:spcBef>
                <a:spcPts val="0"/>
              </a:spcBef>
              <a:spcAft>
                <a:spcPts val="0"/>
              </a:spcAft>
              <a:buNone/>
            </a:pPr>
            <a:r>
              <a:rPr lang="en" sz="1100">
                <a:solidFill>
                  <a:schemeClr val="dk1"/>
                </a:solidFill>
              </a:rPr>
              <a:t>    model.fit(X_train, y_train)</a:t>
            </a:r>
            <a:endParaRPr sz="1100">
              <a:solidFill>
                <a:schemeClr val="dk1"/>
              </a:solidFill>
            </a:endParaRPr>
          </a:p>
          <a:p>
            <a:pPr indent="0" lvl="0" marL="0" rtl="0" algn="l">
              <a:spcBef>
                <a:spcPts val="0"/>
              </a:spcBef>
              <a:spcAft>
                <a:spcPts val="0"/>
              </a:spcAft>
              <a:buNone/>
            </a:pPr>
            <a:r>
              <a:rPr lang="en" sz="1100">
                <a:solidFill>
                  <a:schemeClr val="dk1"/>
                </a:solidFill>
              </a:rPr>
              <a:t>    y_pred = model.predict(X_test)</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rPr lang="en" sz="1100">
                <a:solidFill>
                  <a:schemeClr val="dk1"/>
                </a:solidFill>
              </a:rPr>
              <a:t>    acc = accuracy_score(y_test, y_pred)</a:t>
            </a:r>
            <a:endParaRPr sz="1100">
              <a:solidFill>
                <a:schemeClr val="dk1"/>
              </a:solidFill>
            </a:endParaRPr>
          </a:p>
          <a:p>
            <a:pPr indent="0" lvl="0" marL="0" rtl="0" algn="l">
              <a:spcBef>
                <a:spcPts val="0"/>
              </a:spcBef>
              <a:spcAft>
                <a:spcPts val="0"/>
              </a:spcAft>
              <a:buNone/>
            </a:pPr>
            <a:r>
              <a:rPr lang="en" sz="1100">
                <a:solidFill>
                  <a:schemeClr val="dk1"/>
                </a:solidFill>
              </a:rPr>
              <a:t>    accuracies[name] = acc  # store accuracy</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rPr lang="en" sz="1100">
                <a:solidFill>
                  <a:schemeClr val="dk1"/>
                </a:solidFill>
              </a:rPr>
              <a:t>    print(f"🔹 {name} Results 🔹")</a:t>
            </a:r>
            <a:endParaRPr sz="1100">
              <a:solidFill>
                <a:schemeClr val="dk1"/>
              </a:solidFill>
            </a:endParaRPr>
          </a:p>
          <a:p>
            <a:pPr indent="0" lvl="0" marL="0" rtl="0" algn="l">
              <a:spcBef>
                <a:spcPts val="0"/>
              </a:spcBef>
              <a:spcAft>
                <a:spcPts val="0"/>
              </a:spcAft>
              <a:buNone/>
            </a:pPr>
            <a:r>
              <a:rPr lang="en" sz="1100">
                <a:solidFill>
                  <a:schemeClr val="dk1"/>
                </a:solidFill>
              </a:rPr>
              <a:t>    print("Accuracy:", acc)</a:t>
            </a:r>
            <a:endParaRPr sz="1100">
              <a:solidFill>
                <a:schemeClr val="dk1"/>
              </a:solidFill>
            </a:endParaRPr>
          </a:p>
          <a:p>
            <a:pPr indent="0" lvl="0" marL="0" rtl="0" algn="l">
              <a:spcBef>
                <a:spcPts val="0"/>
              </a:spcBef>
              <a:spcAft>
                <a:spcPts val="0"/>
              </a:spcAft>
              <a:buNone/>
            </a:pPr>
            <a:r>
              <a:rPr lang="en" sz="1100">
                <a:solidFill>
                  <a:schemeClr val="dk1"/>
                </a:solidFill>
              </a:rPr>
              <a:t>    print("Classification Report:\n", classification_report(y_test, y_pred))</a:t>
            </a:r>
            <a:endParaRPr sz="1100">
              <a:solidFill>
                <a:schemeClr val="dk1"/>
              </a:solidFill>
            </a:endParaRPr>
          </a:p>
          <a:p>
            <a:pPr indent="0" lvl="0" marL="0" rtl="0" algn="l">
              <a:spcBef>
                <a:spcPts val="0"/>
              </a:spcBef>
              <a:spcAft>
                <a:spcPts val="0"/>
              </a:spcAft>
              <a:buNone/>
            </a:pPr>
            <a:r>
              <a:rPr lang="en" sz="1100">
                <a:solidFill>
                  <a:schemeClr val="dk1"/>
                </a:solidFill>
              </a:rPr>
              <a:t>    print("="*50)</a:t>
            </a:r>
            <a:endParaRPr sz="1100">
              <a:solidFill>
                <a:schemeClr val="dk1"/>
              </a:solidFill>
            </a:endParaRPr>
          </a:p>
          <a:p>
            <a:pPr indent="0" lvl="0" marL="0" rtl="0" algn="l">
              <a:spcBef>
                <a:spcPts val="0"/>
              </a:spcBef>
              <a:spcAft>
                <a:spcPts val="0"/>
              </a:spcAft>
              <a:buNone/>
            </a:pPr>
            <a:r>
              <a:rPr lang="en" sz="1100">
                <a:solidFill>
                  <a:schemeClr val="dk1"/>
                </a:solidFill>
              </a:rPr>
              <a:t>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94" name="Shape 194"/>
        <p:cNvGrpSpPr/>
        <p:nvPr/>
      </p:nvGrpSpPr>
      <p:grpSpPr>
        <a:xfrm>
          <a:off x="0" y="0"/>
          <a:ext cx="0" cy="0"/>
          <a:chOff x="0" y="0"/>
          <a:chExt cx="0" cy="0"/>
        </a:xfrm>
      </p:grpSpPr>
      <p:sp>
        <p:nvSpPr>
          <p:cNvPr id="195" name="Google Shape;195;p38"/>
          <p:cNvSpPr txBox="1"/>
          <p:nvPr/>
        </p:nvSpPr>
        <p:spPr>
          <a:xfrm>
            <a:off x="90125" y="160675"/>
            <a:ext cx="8700000" cy="458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100">
                <a:solidFill>
                  <a:schemeClr val="dk1"/>
                </a:solidFill>
              </a:rPr>
              <a:t># **Hyperparameter Tuning**</a:t>
            </a:r>
            <a:endParaRPr b="1"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knn = KNeighborsClassifier()</a:t>
            </a:r>
            <a:endParaRPr sz="1100">
              <a:solidFill>
                <a:schemeClr val="dk1"/>
              </a:solidFill>
            </a:endParaRPr>
          </a:p>
          <a:p>
            <a:pPr indent="0" lvl="0" marL="0" rtl="0" algn="l">
              <a:spcBef>
                <a:spcPts val="0"/>
              </a:spcBef>
              <a:spcAft>
                <a:spcPts val="0"/>
              </a:spcAft>
              <a:buNone/>
            </a:pPr>
            <a:r>
              <a:rPr lang="en" sz="1100">
                <a:solidFill>
                  <a:schemeClr val="dk1"/>
                </a:solidFill>
              </a:rPr>
              <a:t>param_knn = {</a:t>
            </a:r>
            <a:endParaRPr sz="1100">
              <a:solidFill>
                <a:schemeClr val="dk1"/>
              </a:solidFill>
            </a:endParaRPr>
          </a:p>
          <a:p>
            <a:pPr indent="0" lvl="0" marL="0" rtl="0" algn="l">
              <a:spcBef>
                <a:spcPts val="0"/>
              </a:spcBef>
              <a:spcAft>
                <a:spcPts val="0"/>
              </a:spcAft>
              <a:buNone/>
            </a:pPr>
            <a:r>
              <a:rPr lang="en" sz="1100">
                <a:solidFill>
                  <a:schemeClr val="dk1"/>
                </a:solidFill>
              </a:rPr>
              <a:t>    'n_neighbors': [3,5,7,9],</a:t>
            </a:r>
            <a:endParaRPr sz="1100">
              <a:solidFill>
                <a:schemeClr val="dk1"/>
              </a:solidFill>
            </a:endParaRPr>
          </a:p>
          <a:p>
            <a:pPr indent="0" lvl="0" marL="0" rtl="0" algn="l">
              <a:spcBef>
                <a:spcPts val="0"/>
              </a:spcBef>
              <a:spcAft>
                <a:spcPts val="0"/>
              </a:spcAft>
              <a:buNone/>
            </a:pPr>
            <a:r>
              <a:rPr lang="en" sz="1100">
                <a:solidFill>
                  <a:schemeClr val="dk1"/>
                </a:solidFill>
              </a:rPr>
              <a:t>    'weights': ['uniform','distance'],</a:t>
            </a:r>
            <a:endParaRPr sz="1100">
              <a:solidFill>
                <a:schemeClr val="dk1"/>
              </a:solidFill>
            </a:endParaRPr>
          </a:p>
          <a:p>
            <a:pPr indent="0" lvl="0" marL="0" rtl="0" algn="l">
              <a:spcBef>
                <a:spcPts val="0"/>
              </a:spcBef>
              <a:spcAft>
                <a:spcPts val="0"/>
              </a:spcAft>
              <a:buNone/>
            </a:pPr>
            <a:r>
              <a:rPr lang="en" sz="1100">
                <a:solidFill>
                  <a:schemeClr val="dk1"/>
                </a:solidFill>
              </a:rPr>
              <a:t>    'metric': ['euclidean','manhattan']</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grid_knn = GridSearchCV(knn, param_grid=param_knn, cv=5, scoring='accuracy')</a:t>
            </a:r>
            <a:endParaRPr sz="1100">
              <a:solidFill>
                <a:schemeClr val="dk1"/>
              </a:solidFill>
            </a:endParaRPr>
          </a:p>
          <a:p>
            <a:pPr indent="0" lvl="0" marL="0" rtl="0" algn="l">
              <a:spcBef>
                <a:spcPts val="0"/>
              </a:spcBef>
              <a:spcAft>
                <a:spcPts val="0"/>
              </a:spcAft>
              <a:buNone/>
            </a:pPr>
            <a:r>
              <a:rPr lang="en" sz="1100">
                <a:solidFill>
                  <a:schemeClr val="dk1"/>
                </a:solidFill>
              </a:rPr>
              <a:t>grid_knn.fit(X_train, y_train)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knn_best = grid_knn.best_estimator_</a:t>
            </a:r>
            <a:endParaRPr sz="1100">
              <a:solidFill>
                <a:schemeClr val="dk1"/>
              </a:solidFill>
            </a:endParaRPr>
          </a:p>
          <a:p>
            <a:pPr indent="0" lvl="0" marL="0" rtl="0" algn="l">
              <a:spcBef>
                <a:spcPts val="0"/>
              </a:spcBef>
              <a:spcAft>
                <a:spcPts val="0"/>
              </a:spcAft>
              <a:buNone/>
            </a:pPr>
            <a:r>
              <a:rPr lang="en" sz="1100">
                <a:solidFill>
                  <a:schemeClr val="dk1"/>
                </a:solidFill>
              </a:rPr>
              <a:t>knn_pred = knn_best.predict(X_test)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print("Best KNN Params:", grid_knn.best_params_)</a:t>
            </a:r>
            <a:endParaRPr sz="1100">
              <a:solidFill>
                <a:schemeClr val="dk1"/>
              </a:solidFill>
            </a:endParaRPr>
          </a:p>
          <a:p>
            <a:pPr indent="0" lvl="0" marL="0" rtl="0" algn="l">
              <a:spcBef>
                <a:spcPts val="0"/>
              </a:spcBef>
              <a:spcAft>
                <a:spcPts val="0"/>
              </a:spcAft>
              <a:buNone/>
            </a:pPr>
            <a:r>
              <a:rPr lang="en" sz="1100">
                <a:solidFill>
                  <a:schemeClr val="dk1"/>
                </a:solidFill>
              </a:rPr>
              <a:t>print("KNN Accuracy:", accuracy_score(y_test, knn_pred))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dt = DecisionTreeClassifier(random_state=42)</a:t>
            </a:r>
            <a:endParaRPr sz="1100">
              <a:solidFill>
                <a:schemeClr val="dk1"/>
              </a:solidFill>
            </a:endParaRPr>
          </a:p>
          <a:p>
            <a:pPr indent="0" lvl="0" marL="0" rtl="0" algn="l">
              <a:spcBef>
                <a:spcPts val="0"/>
              </a:spcBef>
              <a:spcAft>
                <a:spcPts val="0"/>
              </a:spcAft>
              <a:buNone/>
            </a:pPr>
            <a:r>
              <a:rPr lang="en" sz="1100">
                <a:solidFill>
                  <a:schemeClr val="dk1"/>
                </a:solidFill>
              </a:rPr>
              <a:t>param_dt = {</a:t>
            </a:r>
            <a:endParaRPr sz="1100">
              <a:solidFill>
                <a:schemeClr val="dk1"/>
              </a:solidFill>
            </a:endParaRPr>
          </a:p>
          <a:p>
            <a:pPr indent="0" lvl="0" marL="0" rtl="0" algn="l">
              <a:spcBef>
                <a:spcPts val="0"/>
              </a:spcBef>
              <a:spcAft>
                <a:spcPts val="0"/>
              </a:spcAft>
              <a:buNone/>
            </a:pPr>
            <a:r>
              <a:rPr lang="en" sz="1100">
                <a:solidFill>
                  <a:schemeClr val="dk1"/>
                </a:solidFill>
              </a:rPr>
              <a:t>    'max_depth': [5,10,15,None],</a:t>
            </a:r>
            <a:endParaRPr sz="1100">
              <a:solidFill>
                <a:schemeClr val="dk1"/>
              </a:solidFill>
            </a:endParaRPr>
          </a:p>
          <a:p>
            <a:pPr indent="0" lvl="0" marL="0" rtl="0" algn="l">
              <a:spcBef>
                <a:spcPts val="0"/>
              </a:spcBef>
              <a:spcAft>
                <a:spcPts val="0"/>
              </a:spcAft>
              <a:buNone/>
            </a:pPr>
            <a:r>
              <a:rPr lang="en" sz="1100">
                <a:solidFill>
                  <a:schemeClr val="dk1"/>
                </a:solidFill>
              </a:rPr>
              <a:t>    'min_samples_split': [2,5,10],</a:t>
            </a:r>
            <a:endParaRPr sz="1100">
              <a:solidFill>
                <a:schemeClr val="dk1"/>
              </a:solidFill>
            </a:endParaRPr>
          </a:p>
          <a:p>
            <a:pPr indent="0" lvl="0" marL="0" rtl="0" algn="l">
              <a:spcBef>
                <a:spcPts val="0"/>
              </a:spcBef>
              <a:spcAft>
                <a:spcPts val="0"/>
              </a:spcAft>
              <a:buNone/>
            </a:pPr>
            <a:r>
              <a:rPr lang="en" sz="1100">
                <a:solidFill>
                  <a:schemeClr val="dk1"/>
                </a:solidFill>
              </a:rPr>
              <a:t>    'criterion': ['gini','entropy']</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99" name="Shape 199"/>
        <p:cNvGrpSpPr/>
        <p:nvPr/>
      </p:nvGrpSpPr>
      <p:grpSpPr>
        <a:xfrm>
          <a:off x="0" y="0"/>
          <a:ext cx="0" cy="0"/>
          <a:chOff x="0" y="0"/>
          <a:chExt cx="0" cy="0"/>
        </a:xfrm>
      </p:grpSpPr>
      <p:sp>
        <p:nvSpPr>
          <p:cNvPr id="200" name="Google Shape;200;p39"/>
          <p:cNvSpPr txBox="1"/>
          <p:nvPr/>
        </p:nvSpPr>
        <p:spPr>
          <a:xfrm>
            <a:off x="0" y="195925"/>
            <a:ext cx="8907600" cy="475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grid_dt = GridSearchCV(dt, param_grid=param_dt, cv=5, scoring='accuracy')</a:t>
            </a:r>
            <a:endParaRPr sz="1100">
              <a:solidFill>
                <a:schemeClr val="dk1"/>
              </a:solidFill>
            </a:endParaRPr>
          </a:p>
          <a:p>
            <a:pPr indent="0" lvl="0" marL="0" rtl="0" algn="l">
              <a:spcBef>
                <a:spcPts val="0"/>
              </a:spcBef>
              <a:spcAft>
                <a:spcPts val="0"/>
              </a:spcAft>
              <a:buNone/>
            </a:pPr>
            <a:r>
              <a:rPr lang="en" sz="1100">
                <a:solidFill>
                  <a:schemeClr val="dk1"/>
                </a:solidFill>
              </a:rPr>
              <a:t>grid_dt.fit(X_train, y_train)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dt_best = grid_dt.best_estimator_</a:t>
            </a:r>
            <a:endParaRPr sz="1100">
              <a:solidFill>
                <a:schemeClr val="dk1"/>
              </a:solidFill>
            </a:endParaRPr>
          </a:p>
          <a:p>
            <a:pPr indent="0" lvl="0" marL="0" rtl="0" algn="l">
              <a:spcBef>
                <a:spcPts val="0"/>
              </a:spcBef>
              <a:spcAft>
                <a:spcPts val="0"/>
              </a:spcAft>
              <a:buNone/>
            </a:pPr>
            <a:r>
              <a:rPr lang="en" sz="1100">
                <a:solidFill>
                  <a:schemeClr val="dk1"/>
                </a:solidFill>
              </a:rPr>
              <a:t>dt_pred = dt_best.predict(X_test)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print("Best DT Params:", grid_dt.best_params_)</a:t>
            </a:r>
            <a:endParaRPr sz="1100">
              <a:solidFill>
                <a:schemeClr val="dk1"/>
              </a:solidFill>
            </a:endParaRPr>
          </a:p>
          <a:p>
            <a:pPr indent="0" lvl="0" marL="0" rtl="0" algn="l">
              <a:spcBef>
                <a:spcPts val="0"/>
              </a:spcBef>
              <a:spcAft>
                <a:spcPts val="0"/>
              </a:spcAft>
              <a:buNone/>
            </a:pPr>
            <a:r>
              <a:rPr lang="en" sz="1100">
                <a:solidFill>
                  <a:schemeClr val="dk1"/>
                </a:solidFill>
              </a:rPr>
              <a:t>print("Decision Tree Accuracy:", accuracy_score(y_test, dt_pred))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rf = RandomForestClassifier(random_state=42)</a:t>
            </a:r>
            <a:endParaRPr sz="1100">
              <a:solidFill>
                <a:schemeClr val="dk1"/>
              </a:solidFill>
            </a:endParaRPr>
          </a:p>
          <a:p>
            <a:pPr indent="0" lvl="0" marL="0" rtl="0" algn="l">
              <a:spcBef>
                <a:spcPts val="0"/>
              </a:spcBef>
              <a:spcAft>
                <a:spcPts val="0"/>
              </a:spcAft>
              <a:buNone/>
            </a:pPr>
            <a:r>
              <a:rPr lang="en" sz="1100">
                <a:solidFill>
                  <a:schemeClr val="dk1"/>
                </a:solidFill>
              </a:rPr>
              <a:t>param_rf = {</a:t>
            </a:r>
            <a:endParaRPr sz="1100">
              <a:solidFill>
                <a:schemeClr val="dk1"/>
              </a:solidFill>
            </a:endParaRPr>
          </a:p>
          <a:p>
            <a:pPr indent="0" lvl="0" marL="0" rtl="0" algn="l">
              <a:spcBef>
                <a:spcPts val="0"/>
              </a:spcBef>
              <a:spcAft>
                <a:spcPts val="0"/>
              </a:spcAft>
              <a:buNone/>
            </a:pPr>
            <a:r>
              <a:rPr lang="en" sz="1100">
                <a:solidFill>
                  <a:schemeClr val="dk1"/>
                </a:solidFill>
              </a:rPr>
              <a:t>    'n_estimators': [100,200],</a:t>
            </a:r>
            <a:endParaRPr sz="1100">
              <a:solidFill>
                <a:schemeClr val="dk1"/>
              </a:solidFill>
            </a:endParaRPr>
          </a:p>
          <a:p>
            <a:pPr indent="0" lvl="0" marL="0" rtl="0" algn="l">
              <a:spcBef>
                <a:spcPts val="0"/>
              </a:spcBef>
              <a:spcAft>
                <a:spcPts val="0"/>
              </a:spcAft>
              <a:buNone/>
            </a:pPr>
            <a:r>
              <a:rPr lang="en" sz="1100">
                <a:solidFill>
                  <a:schemeClr val="dk1"/>
                </a:solidFill>
              </a:rPr>
              <a:t>    'max_depth': [5,10,15,None],</a:t>
            </a:r>
            <a:endParaRPr sz="1100">
              <a:solidFill>
                <a:schemeClr val="dk1"/>
              </a:solidFill>
            </a:endParaRPr>
          </a:p>
          <a:p>
            <a:pPr indent="0" lvl="0" marL="0" rtl="0" algn="l">
              <a:spcBef>
                <a:spcPts val="0"/>
              </a:spcBef>
              <a:spcAft>
                <a:spcPts val="0"/>
              </a:spcAft>
              <a:buNone/>
            </a:pPr>
            <a:r>
              <a:rPr lang="en" sz="1100">
                <a:solidFill>
                  <a:schemeClr val="dk1"/>
                </a:solidFill>
              </a:rPr>
              <a:t>    'min_samples_split': [2,5,10]</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grid_rf = GridSearchCV(rf, param_grid=param_rf, cv=5, scoring='accuracy')</a:t>
            </a:r>
            <a:endParaRPr sz="1100">
              <a:solidFill>
                <a:schemeClr val="dk1"/>
              </a:solidFill>
            </a:endParaRPr>
          </a:p>
          <a:p>
            <a:pPr indent="0" lvl="0" marL="0" rtl="0" algn="l">
              <a:spcBef>
                <a:spcPts val="0"/>
              </a:spcBef>
              <a:spcAft>
                <a:spcPts val="0"/>
              </a:spcAft>
              <a:buNone/>
            </a:pPr>
            <a:r>
              <a:rPr lang="en" sz="1100">
                <a:solidFill>
                  <a:schemeClr val="dk1"/>
                </a:solidFill>
              </a:rPr>
              <a:t>grid_rf.fit(X_train, y_train)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rf_best = grid_rf.best_estimator_</a:t>
            </a:r>
            <a:endParaRPr sz="1100">
              <a:solidFill>
                <a:schemeClr val="dk1"/>
              </a:solidFill>
            </a:endParaRPr>
          </a:p>
          <a:p>
            <a:pPr indent="0" lvl="0" marL="0" rtl="0" algn="l">
              <a:spcBef>
                <a:spcPts val="0"/>
              </a:spcBef>
              <a:spcAft>
                <a:spcPts val="0"/>
              </a:spcAft>
              <a:buNone/>
            </a:pPr>
            <a:r>
              <a:rPr lang="en" sz="1100">
                <a:solidFill>
                  <a:schemeClr val="dk1"/>
                </a:solidFill>
              </a:rPr>
              <a:t>rf_pred = rf_best.predict(X_test)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print("Best RF Params:", grid_rf.best_params_)</a:t>
            </a:r>
            <a:endParaRPr sz="1100">
              <a:solidFill>
                <a:schemeClr val="dk1"/>
              </a:solidFill>
            </a:endParaRPr>
          </a:p>
          <a:p>
            <a:pPr indent="0" lvl="0" marL="0" rtl="0" algn="l">
              <a:spcBef>
                <a:spcPts val="0"/>
              </a:spcBef>
              <a:spcAft>
                <a:spcPts val="0"/>
              </a:spcAft>
              <a:buNone/>
            </a:pPr>
            <a:r>
              <a:rPr lang="en" sz="1100">
                <a:solidFill>
                  <a:schemeClr val="dk1"/>
                </a:solidFill>
              </a:rPr>
              <a:t>print("Random Forest Accuracy:", accuracy_score(y_test, rf_pred))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04" name="Shape 204"/>
        <p:cNvGrpSpPr/>
        <p:nvPr/>
      </p:nvGrpSpPr>
      <p:grpSpPr>
        <a:xfrm>
          <a:off x="0" y="0"/>
          <a:ext cx="0" cy="0"/>
          <a:chOff x="0" y="0"/>
          <a:chExt cx="0" cy="0"/>
        </a:xfrm>
      </p:grpSpPr>
      <p:sp>
        <p:nvSpPr>
          <p:cNvPr id="205" name="Google Shape;205;p40"/>
          <p:cNvSpPr txBox="1"/>
          <p:nvPr/>
        </p:nvSpPr>
        <p:spPr>
          <a:xfrm>
            <a:off x="137175" y="293925"/>
            <a:ext cx="8760600" cy="441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100">
                <a:solidFill>
                  <a:schemeClr val="dk1"/>
                </a:solidFill>
              </a:rPr>
              <a:t>lr = LogisticRegression(max_iter=2000)</a:t>
            </a:r>
            <a:endParaRPr sz="1100">
              <a:solidFill>
                <a:schemeClr val="dk1"/>
              </a:solidFill>
            </a:endParaRPr>
          </a:p>
          <a:p>
            <a:pPr indent="0" lvl="0" marL="0" rtl="0" algn="l">
              <a:spcBef>
                <a:spcPts val="0"/>
              </a:spcBef>
              <a:spcAft>
                <a:spcPts val="0"/>
              </a:spcAft>
              <a:buNone/>
            </a:pPr>
            <a:r>
              <a:rPr lang="en" sz="1100">
                <a:solidFill>
                  <a:schemeClr val="dk1"/>
                </a:solidFill>
              </a:rPr>
              <a:t>param_lr = {</a:t>
            </a:r>
            <a:endParaRPr sz="1100">
              <a:solidFill>
                <a:schemeClr val="dk1"/>
              </a:solidFill>
            </a:endParaRPr>
          </a:p>
          <a:p>
            <a:pPr indent="0" lvl="0" marL="0" rtl="0" algn="l">
              <a:spcBef>
                <a:spcPts val="0"/>
              </a:spcBef>
              <a:spcAft>
                <a:spcPts val="0"/>
              </a:spcAft>
              <a:buNone/>
            </a:pPr>
            <a:r>
              <a:rPr lang="en" sz="1100">
                <a:solidFill>
                  <a:schemeClr val="dk1"/>
                </a:solidFill>
              </a:rPr>
              <a:t>    'C': [0.01,0.1,1,10],</a:t>
            </a:r>
            <a:endParaRPr sz="1100">
              <a:solidFill>
                <a:schemeClr val="dk1"/>
              </a:solidFill>
            </a:endParaRPr>
          </a:p>
          <a:p>
            <a:pPr indent="0" lvl="0" marL="0" rtl="0" algn="l">
              <a:spcBef>
                <a:spcPts val="0"/>
              </a:spcBef>
              <a:spcAft>
                <a:spcPts val="0"/>
              </a:spcAft>
              <a:buNone/>
            </a:pPr>
            <a:r>
              <a:rPr lang="en" sz="1100">
                <a:solidFill>
                  <a:schemeClr val="dk1"/>
                </a:solidFill>
              </a:rPr>
              <a:t>    'solver': ['lbfgs','liblinear']</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grid_lr = GridSearchCV(lr, param_grid=param_lr, cv=5, scoring='accuracy')</a:t>
            </a:r>
            <a:endParaRPr sz="1100">
              <a:solidFill>
                <a:schemeClr val="dk1"/>
              </a:solidFill>
            </a:endParaRPr>
          </a:p>
          <a:p>
            <a:pPr indent="0" lvl="0" marL="0" rtl="0" algn="l">
              <a:spcBef>
                <a:spcPts val="0"/>
              </a:spcBef>
              <a:spcAft>
                <a:spcPts val="0"/>
              </a:spcAft>
              <a:buNone/>
            </a:pPr>
            <a:r>
              <a:rPr lang="en" sz="1100">
                <a:solidFill>
                  <a:schemeClr val="dk1"/>
                </a:solidFill>
              </a:rPr>
              <a:t>grid_lr.fit(X_train, y_train)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lr_best = grid_lr.best_estimator_</a:t>
            </a:r>
            <a:endParaRPr sz="1100">
              <a:solidFill>
                <a:schemeClr val="dk1"/>
              </a:solidFill>
            </a:endParaRPr>
          </a:p>
          <a:p>
            <a:pPr indent="0" lvl="0" marL="0" rtl="0" algn="l">
              <a:spcBef>
                <a:spcPts val="0"/>
              </a:spcBef>
              <a:spcAft>
                <a:spcPts val="0"/>
              </a:spcAft>
              <a:buNone/>
            </a:pPr>
            <a:r>
              <a:rPr lang="en" sz="1100">
                <a:solidFill>
                  <a:schemeClr val="dk1"/>
                </a:solidFill>
              </a:rPr>
              <a:t>lr_pred = lr_best.predict(X_test)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print("Best LR Params:", grid_lr.best_params_)</a:t>
            </a:r>
            <a:endParaRPr sz="1100">
              <a:solidFill>
                <a:schemeClr val="dk1"/>
              </a:solidFill>
            </a:endParaRPr>
          </a:p>
          <a:p>
            <a:pPr indent="0" lvl="0" marL="0" rtl="0" algn="l">
              <a:spcBef>
                <a:spcPts val="0"/>
              </a:spcBef>
              <a:spcAft>
                <a:spcPts val="0"/>
              </a:spcAft>
              <a:buNone/>
            </a:pPr>
            <a:r>
              <a:rPr lang="en" sz="1100">
                <a:solidFill>
                  <a:schemeClr val="dk1"/>
                </a:solidFill>
              </a:rPr>
              <a:t>print("Logistic Regression Accuracy:", accuracy_score(y_test, lr_pred))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results = {</a:t>
            </a:r>
            <a:endParaRPr sz="1100">
              <a:solidFill>
                <a:schemeClr val="dk1"/>
              </a:solidFill>
            </a:endParaRPr>
          </a:p>
          <a:p>
            <a:pPr indent="0" lvl="0" marL="0" rtl="0" algn="l">
              <a:spcBef>
                <a:spcPts val="0"/>
              </a:spcBef>
              <a:spcAft>
                <a:spcPts val="0"/>
              </a:spcAft>
              <a:buNone/>
            </a:pPr>
            <a:r>
              <a:rPr lang="en" sz="1100">
                <a:solidFill>
                  <a:schemeClr val="dk1"/>
                </a:solidFill>
              </a:rPr>
              <a:t>    "KNN": accuracy_score(y_test, knn_pred),</a:t>
            </a:r>
            <a:endParaRPr sz="1100">
              <a:solidFill>
                <a:schemeClr val="dk1"/>
              </a:solidFill>
            </a:endParaRPr>
          </a:p>
          <a:p>
            <a:pPr indent="0" lvl="0" marL="0" rtl="0" algn="l">
              <a:spcBef>
                <a:spcPts val="0"/>
              </a:spcBef>
              <a:spcAft>
                <a:spcPts val="0"/>
              </a:spcAft>
              <a:buNone/>
            </a:pPr>
            <a:r>
              <a:rPr lang="en" sz="1100">
                <a:solidFill>
                  <a:schemeClr val="dk1"/>
                </a:solidFill>
              </a:rPr>
              <a:t>    "Decision Tree": accuracy_score(y_test, dt_pred),</a:t>
            </a:r>
            <a:endParaRPr sz="1100">
              <a:solidFill>
                <a:schemeClr val="dk1"/>
              </a:solidFill>
            </a:endParaRPr>
          </a:p>
          <a:p>
            <a:pPr indent="0" lvl="0" marL="0" rtl="0" algn="l">
              <a:spcBef>
                <a:spcPts val="0"/>
              </a:spcBef>
              <a:spcAft>
                <a:spcPts val="0"/>
              </a:spcAft>
              <a:buNone/>
            </a:pPr>
            <a:r>
              <a:rPr lang="en" sz="1100">
                <a:solidFill>
                  <a:schemeClr val="dk1"/>
                </a:solidFill>
              </a:rPr>
              <a:t>    "Random Forest": accuracy_score(y_test, rf_pred),</a:t>
            </a:r>
            <a:endParaRPr sz="1100">
              <a:solidFill>
                <a:schemeClr val="dk1"/>
              </a:solidFill>
            </a:endParaRPr>
          </a:p>
          <a:p>
            <a:pPr indent="0" lvl="0" marL="0" rtl="0" algn="l">
              <a:spcBef>
                <a:spcPts val="0"/>
              </a:spcBef>
              <a:spcAft>
                <a:spcPts val="0"/>
              </a:spcAft>
              <a:buNone/>
            </a:pPr>
            <a:r>
              <a:rPr lang="en" sz="1100">
                <a:solidFill>
                  <a:schemeClr val="dk1"/>
                </a:solidFill>
              </a:rPr>
              <a:t>    "Logistic Regression": accuracy_score(y_test, lr_pred)</a:t>
            </a:r>
            <a:endParaRPr sz="1100">
              <a:solidFill>
                <a:schemeClr val="dk1"/>
              </a:solidFill>
            </a:endParaRPr>
          </a:p>
          <a:p>
            <a:pPr indent="0" lvl="0" marL="0" rtl="0" algn="l">
              <a:spcBef>
                <a:spcPts val="0"/>
              </a:spcBef>
              <a:spcAft>
                <a:spcPts val="0"/>
              </a:spcAft>
              <a:buNone/>
            </a:pPr>
            <a:r>
              <a:rPr lang="en" sz="1100">
                <a:solidFill>
                  <a:schemeClr val="dk1"/>
                </a:solidFill>
              </a:rPr>
              <a: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print("Model Accuracies:", results)</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09" name="Shape 209"/>
        <p:cNvGrpSpPr/>
        <p:nvPr/>
      </p:nvGrpSpPr>
      <p:grpSpPr>
        <a:xfrm>
          <a:off x="0" y="0"/>
          <a:ext cx="0" cy="0"/>
          <a:chOff x="0" y="0"/>
          <a:chExt cx="0" cy="0"/>
        </a:xfrm>
      </p:grpSpPr>
      <p:sp>
        <p:nvSpPr>
          <p:cNvPr id="210" name="Google Shape;210;p41"/>
          <p:cNvSpPr txBox="1"/>
          <p:nvPr/>
        </p:nvSpPr>
        <p:spPr>
          <a:xfrm>
            <a:off x="0" y="0"/>
            <a:ext cx="8868300" cy="527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#**Evaluate Tuned Models**</a:t>
            </a:r>
            <a:endParaRPr b="1" sz="12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def plot_cm(y_true, y_pred, title):</a:t>
            </a:r>
            <a:endParaRPr sz="1100">
              <a:solidFill>
                <a:schemeClr val="dk1"/>
              </a:solidFill>
            </a:endParaRPr>
          </a:p>
          <a:p>
            <a:pPr indent="0" lvl="0" marL="0" rtl="0" algn="l">
              <a:spcBef>
                <a:spcPts val="0"/>
              </a:spcBef>
              <a:spcAft>
                <a:spcPts val="0"/>
              </a:spcAft>
              <a:buNone/>
            </a:pPr>
            <a:r>
              <a:rPr lang="en" sz="1100">
                <a:solidFill>
                  <a:schemeClr val="dk1"/>
                </a:solidFill>
              </a:rPr>
              <a:t>    cm = confusion_matrix(y_true, y_pred)</a:t>
            </a:r>
            <a:endParaRPr sz="1100">
              <a:solidFill>
                <a:schemeClr val="dk1"/>
              </a:solidFill>
            </a:endParaRPr>
          </a:p>
          <a:p>
            <a:pPr indent="0" lvl="0" marL="0" rtl="0" algn="l">
              <a:spcBef>
                <a:spcPts val="0"/>
              </a:spcBef>
              <a:spcAft>
                <a:spcPts val="0"/>
              </a:spcAft>
              <a:buNone/>
            </a:pPr>
            <a:r>
              <a:rPr lang="en" sz="1100">
                <a:solidFill>
                  <a:schemeClr val="dk1"/>
                </a:solidFill>
              </a:rPr>
              <a:t>    sns.heatmap(cm, annot=True, fmt='d', cmap='Blues')</a:t>
            </a:r>
            <a:endParaRPr sz="1100">
              <a:solidFill>
                <a:schemeClr val="dk1"/>
              </a:solidFill>
            </a:endParaRPr>
          </a:p>
          <a:p>
            <a:pPr indent="0" lvl="0" marL="0" rtl="0" algn="l">
              <a:spcBef>
                <a:spcPts val="0"/>
              </a:spcBef>
              <a:spcAft>
                <a:spcPts val="0"/>
              </a:spcAft>
              <a:buNone/>
            </a:pPr>
            <a:r>
              <a:rPr lang="en" sz="1100">
                <a:solidFill>
                  <a:schemeClr val="dk1"/>
                </a:solidFill>
              </a:rPr>
              <a:t>    plt.xlabel("Predicted")</a:t>
            </a:r>
            <a:endParaRPr sz="1100">
              <a:solidFill>
                <a:schemeClr val="dk1"/>
              </a:solidFill>
            </a:endParaRPr>
          </a:p>
          <a:p>
            <a:pPr indent="0" lvl="0" marL="0" rtl="0" algn="l">
              <a:spcBef>
                <a:spcPts val="0"/>
              </a:spcBef>
              <a:spcAft>
                <a:spcPts val="0"/>
              </a:spcAft>
              <a:buNone/>
            </a:pPr>
            <a:r>
              <a:rPr lang="en" sz="1100">
                <a:solidFill>
                  <a:schemeClr val="dk1"/>
                </a:solidFill>
              </a:rPr>
              <a:t>    plt.ylabel("Actual")</a:t>
            </a:r>
            <a:endParaRPr sz="1100">
              <a:solidFill>
                <a:schemeClr val="dk1"/>
              </a:solidFill>
            </a:endParaRPr>
          </a:p>
          <a:p>
            <a:pPr indent="0" lvl="0" marL="0" rtl="0" algn="l">
              <a:spcBef>
                <a:spcPts val="0"/>
              </a:spcBef>
              <a:spcAft>
                <a:spcPts val="0"/>
              </a:spcAft>
              <a:buNone/>
            </a:pPr>
            <a:r>
              <a:rPr lang="en" sz="1100">
                <a:solidFill>
                  <a:schemeClr val="dk1"/>
                </a:solidFill>
              </a:rPr>
              <a:t>    plt.title(f"Confusion Matrix - {title}")</a:t>
            </a:r>
            <a:endParaRPr sz="1100">
              <a:solidFill>
                <a:schemeClr val="dk1"/>
              </a:solidFill>
            </a:endParaRPr>
          </a:p>
          <a:p>
            <a:pPr indent="0" lvl="0" marL="0" rtl="0" algn="l">
              <a:spcBef>
                <a:spcPts val="0"/>
              </a:spcBef>
              <a:spcAft>
                <a:spcPts val="0"/>
              </a:spcAft>
              <a:buNone/>
            </a:pPr>
            <a:r>
              <a:rPr lang="en" sz="1100">
                <a:solidFill>
                  <a:schemeClr val="dk1"/>
                </a:solidFill>
              </a:rPr>
              <a:t>    plt.show()</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KNN</a:t>
            </a:r>
            <a:endParaRPr sz="1100">
              <a:solidFill>
                <a:schemeClr val="dk1"/>
              </a:solidFill>
            </a:endParaRPr>
          </a:p>
          <a:p>
            <a:pPr indent="0" lvl="0" marL="0" rtl="0" algn="l">
              <a:spcBef>
                <a:spcPts val="0"/>
              </a:spcBef>
              <a:spcAft>
                <a:spcPts val="0"/>
              </a:spcAft>
              <a:buNone/>
            </a:pPr>
            <a:r>
              <a:rPr lang="en" sz="1100">
                <a:solidFill>
                  <a:schemeClr val="dk1"/>
                </a:solidFill>
              </a:rPr>
              <a:t>print("KNN Classification Report")</a:t>
            </a:r>
            <a:endParaRPr sz="1100">
              <a:solidFill>
                <a:schemeClr val="dk1"/>
              </a:solidFill>
            </a:endParaRPr>
          </a:p>
          <a:p>
            <a:pPr indent="0" lvl="0" marL="0" rtl="0" algn="l">
              <a:spcBef>
                <a:spcPts val="0"/>
              </a:spcBef>
              <a:spcAft>
                <a:spcPts val="0"/>
              </a:spcAft>
              <a:buNone/>
            </a:pPr>
            <a:r>
              <a:rPr lang="en" sz="1100">
                <a:solidFill>
                  <a:schemeClr val="dk1"/>
                </a:solidFill>
              </a:rPr>
              <a:t>print(classification_report(y_test, knn_pred))</a:t>
            </a:r>
            <a:endParaRPr sz="1100">
              <a:solidFill>
                <a:schemeClr val="dk1"/>
              </a:solidFill>
            </a:endParaRPr>
          </a:p>
          <a:p>
            <a:pPr indent="0" lvl="0" marL="0" rtl="0" algn="l">
              <a:spcBef>
                <a:spcPts val="0"/>
              </a:spcBef>
              <a:spcAft>
                <a:spcPts val="0"/>
              </a:spcAft>
              <a:buNone/>
            </a:pPr>
            <a:r>
              <a:rPr lang="en" sz="1100">
                <a:solidFill>
                  <a:schemeClr val="dk1"/>
                </a:solidFill>
              </a:rPr>
              <a:t>plot_cm(y_test, knn_pred, "KNN")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Decision Tree</a:t>
            </a:r>
            <a:endParaRPr sz="1100">
              <a:solidFill>
                <a:schemeClr val="dk1"/>
              </a:solidFill>
            </a:endParaRPr>
          </a:p>
          <a:p>
            <a:pPr indent="0" lvl="0" marL="0" rtl="0" algn="l">
              <a:spcBef>
                <a:spcPts val="0"/>
              </a:spcBef>
              <a:spcAft>
                <a:spcPts val="0"/>
              </a:spcAft>
              <a:buNone/>
            </a:pPr>
            <a:r>
              <a:rPr lang="en" sz="1100">
                <a:solidFill>
                  <a:schemeClr val="dk1"/>
                </a:solidFill>
              </a:rPr>
              <a:t>print("Decision Tree Classification Report")</a:t>
            </a:r>
            <a:endParaRPr sz="1100">
              <a:solidFill>
                <a:schemeClr val="dk1"/>
              </a:solidFill>
            </a:endParaRPr>
          </a:p>
          <a:p>
            <a:pPr indent="0" lvl="0" marL="0" rtl="0" algn="l">
              <a:spcBef>
                <a:spcPts val="0"/>
              </a:spcBef>
              <a:spcAft>
                <a:spcPts val="0"/>
              </a:spcAft>
              <a:buNone/>
            </a:pPr>
            <a:r>
              <a:rPr lang="en" sz="1100">
                <a:solidFill>
                  <a:schemeClr val="dk1"/>
                </a:solidFill>
              </a:rPr>
              <a:t>print(classification_report(y_test, dt_pred))</a:t>
            </a:r>
            <a:endParaRPr sz="1100">
              <a:solidFill>
                <a:schemeClr val="dk1"/>
              </a:solidFill>
            </a:endParaRPr>
          </a:p>
          <a:p>
            <a:pPr indent="0" lvl="0" marL="0" rtl="0" algn="l">
              <a:spcBef>
                <a:spcPts val="0"/>
              </a:spcBef>
              <a:spcAft>
                <a:spcPts val="0"/>
              </a:spcAft>
              <a:buNone/>
            </a:pPr>
            <a:r>
              <a:rPr lang="en" sz="1100">
                <a:solidFill>
                  <a:schemeClr val="dk1"/>
                </a:solidFill>
              </a:rPr>
              <a:t>plot_cm(y_test, dt_pred, "Decision Tree")</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Random Forest</a:t>
            </a:r>
            <a:endParaRPr sz="1100">
              <a:solidFill>
                <a:schemeClr val="dk1"/>
              </a:solidFill>
            </a:endParaRPr>
          </a:p>
          <a:p>
            <a:pPr indent="0" lvl="0" marL="0" rtl="0" algn="l">
              <a:spcBef>
                <a:spcPts val="0"/>
              </a:spcBef>
              <a:spcAft>
                <a:spcPts val="0"/>
              </a:spcAft>
              <a:buNone/>
            </a:pPr>
            <a:r>
              <a:rPr lang="en" sz="1100">
                <a:solidFill>
                  <a:schemeClr val="dk1"/>
                </a:solidFill>
              </a:rPr>
              <a:t>print("Random Forest Classification Report")</a:t>
            </a:r>
            <a:endParaRPr sz="1100">
              <a:solidFill>
                <a:schemeClr val="dk1"/>
              </a:solidFill>
            </a:endParaRPr>
          </a:p>
          <a:p>
            <a:pPr indent="0" lvl="0" marL="0" rtl="0" algn="l">
              <a:spcBef>
                <a:spcPts val="0"/>
              </a:spcBef>
              <a:spcAft>
                <a:spcPts val="0"/>
              </a:spcAft>
              <a:buNone/>
            </a:pPr>
            <a:r>
              <a:rPr lang="en" sz="1100">
                <a:solidFill>
                  <a:schemeClr val="dk1"/>
                </a:solidFill>
              </a:rPr>
              <a:t>print(classification_report(y_test, rf_pred))</a:t>
            </a:r>
            <a:endParaRPr sz="1100">
              <a:solidFill>
                <a:schemeClr val="dk1"/>
              </a:solidFill>
            </a:endParaRPr>
          </a:p>
          <a:p>
            <a:pPr indent="0" lvl="0" marL="0" rtl="0" algn="l">
              <a:spcBef>
                <a:spcPts val="0"/>
              </a:spcBef>
              <a:spcAft>
                <a:spcPts val="0"/>
              </a:spcAft>
              <a:buNone/>
            </a:pPr>
            <a:r>
              <a:rPr lang="en" sz="1100">
                <a:solidFill>
                  <a:schemeClr val="dk1"/>
                </a:solidFill>
              </a:rPr>
              <a:t>plot_cm(y_test, rf_pred, "Random Forest")</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Logistic Regression</a:t>
            </a:r>
            <a:endParaRPr sz="1100">
              <a:solidFill>
                <a:schemeClr val="dk1"/>
              </a:solidFill>
            </a:endParaRPr>
          </a:p>
          <a:p>
            <a:pPr indent="0" lvl="0" marL="0" rtl="0" algn="l">
              <a:spcBef>
                <a:spcPts val="0"/>
              </a:spcBef>
              <a:spcAft>
                <a:spcPts val="0"/>
              </a:spcAft>
              <a:buNone/>
            </a:pPr>
            <a:r>
              <a:rPr lang="en" sz="1100">
                <a:solidFill>
                  <a:schemeClr val="dk1"/>
                </a:solidFill>
              </a:rPr>
              <a:t>print("Logistic Regression Classification Report")</a:t>
            </a:r>
            <a:endParaRPr sz="1100">
              <a:solidFill>
                <a:schemeClr val="dk1"/>
              </a:solidFill>
            </a:endParaRPr>
          </a:p>
          <a:p>
            <a:pPr indent="0" lvl="0" marL="0" rtl="0" algn="l">
              <a:spcBef>
                <a:spcPts val="0"/>
              </a:spcBef>
              <a:spcAft>
                <a:spcPts val="0"/>
              </a:spcAft>
              <a:buNone/>
            </a:pPr>
            <a:r>
              <a:rPr lang="en" sz="1100">
                <a:solidFill>
                  <a:schemeClr val="dk1"/>
                </a:solidFill>
              </a:rPr>
              <a:t>print(classification_report(y_test, lr_pred))</a:t>
            </a:r>
            <a:endParaRPr sz="1100">
              <a:solidFill>
                <a:schemeClr val="dk1"/>
              </a:solidFill>
            </a:endParaRPr>
          </a:p>
          <a:p>
            <a:pPr indent="0" lvl="0" marL="0" rtl="0" algn="l">
              <a:spcBef>
                <a:spcPts val="0"/>
              </a:spcBef>
              <a:spcAft>
                <a:spcPts val="0"/>
              </a:spcAft>
              <a:buNone/>
            </a:pPr>
            <a:r>
              <a:rPr lang="en" sz="1100">
                <a:solidFill>
                  <a:schemeClr val="dk1"/>
                </a:solidFill>
              </a:rPr>
              <a:t>plot_cm(y_test, lr_pred, "Logistic Regression")</a:t>
            </a:r>
            <a:endParaRPr sz="1100">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14" name="Shape 214"/>
        <p:cNvGrpSpPr/>
        <p:nvPr/>
      </p:nvGrpSpPr>
      <p:grpSpPr>
        <a:xfrm>
          <a:off x="0" y="0"/>
          <a:ext cx="0" cy="0"/>
          <a:chOff x="0" y="0"/>
          <a:chExt cx="0" cy="0"/>
        </a:xfrm>
      </p:grpSpPr>
      <p:sp>
        <p:nvSpPr>
          <p:cNvPr id="215" name="Google Shape;215;p42"/>
          <p:cNvSpPr txBox="1"/>
          <p:nvPr/>
        </p:nvSpPr>
        <p:spPr>
          <a:xfrm>
            <a:off x="117550" y="352700"/>
            <a:ext cx="8594100" cy="3709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200">
                <a:solidFill>
                  <a:schemeClr val="dk1"/>
                </a:solidFill>
              </a:rPr>
              <a:t># **Accuracy Comparison Chart**</a:t>
            </a:r>
            <a:endParaRPr b="1" sz="12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Identify best model</a:t>
            </a:r>
            <a:endParaRPr sz="1100">
              <a:solidFill>
                <a:schemeClr val="dk1"/>
              </a:solidFill>
            </a:endParaRPr>
          </a:p>
          <a:p>
            <a:pPr indent="0" lvl="0" marL="0" rtl="0" algn="l">
              <a:spcBef>
                <a:spcPts val="0"/>
              </a:spcBef>
              <a:spcAft>
                <a:spcPts val="0"/>
              </a:spcAft>
              <a:buNone/>
            </a:pPr>
            <a:r>
              <a:rPr lang="en" sz="1100">
                <a:solidFill>
                  <a:schemeClr val="dk1"/>
                </a:solidFill>
              </a:rPr>
              <a:t>best_model_name = max(results, key=results.get)</a:t>
            </a:r>
            <a:endParaRPr sz="1100">
              <a:solidFill>
                <a:schemeClr val="dk1"/>
              </a:solidFill>
            </a:endParaRPr>
          </a:p>
          <a:p>
            <a:pPr indent="0" lvl="0" marL="0" rtl="0" algn="l">
              <a:spcBef>
                <a:spcPts val="0"/>
              </a:spcBef>
              <a:spcAft>
                <a:spcPts val="0"/>
              </a:spcAft>
              <a:buNone/>
            </a:pPr>
            <a:r>
              <a:rPr lang="en" sz="1100">
                <a:solidFill>
                  <a:schemeClr val="dk1"/>
                </a:solidFill>
              </a:rPr>
              <a:t>best_model_acc = results[best_model_name]</a:t>
            </a:r>
            <a:endParaRPr sz="1100">
              <a:solidFill>
                <a:schemeClr val="dk1"/>
              </a:solidFill>
            </a:endParaRPr>
          </a:p>
          <a:p>
            <a:pPr indent="0" lvl="0" marL="0" rtl="0" algn="l">
              <a:spcBef>
                <a:spcPts val="0"/>
              </a:spcBef>
              <a:spcAft>
                <a:spcPts val="0"/>
              </a:spcAft>
              <a:buNone/>
            </a:pPr>
            <a:r>
              <a:rPr lang="en" sz="1100">
                <a:solidFill>
                  <a:schemeClr val="dk1"/>
                </a:solidFill>
              </a:rPr>
              <a:t>print(f"\n✅ Best Model: {best_model_name} with Accuracy = {best_model_acc:.4f}")</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None/>
            </a:pPr>
            <a:r>
              <a:rPr lang="en" sz="1100">
                <a:solidFill>
                  <a:schemeClr val="dk1"/>
                </a:solidFill>
              </a:rPr>
              <a:t># Bar chart highlighting best model</a:t>
            </a:r>
            <a:endParaRPr sz="1100">
              <a:solidFill>
                <a:schemeClr val="dk1"/>
              </a:solidFill>
            </a:endParaRPr>
          </a:p>
          <a:p>
            <a:pPr indent="0" lvl="0" marL="0" rtl="0" algn="l">
              <a:spcBef>
                <a:spcPts val="0"/>
              </a:spcBef>
              <a:spcAft>
                <a:spcPts val="0"/>
              </a:spcAft>
              <a:buNone/>
            </a:pPr>
            <a:r>
              <a:rPr lang="en" sz="1100">
                <a:solidFill>
                  <a:schemeClr val="dk1"/>
                </a:solidFill>
              </a:rPr>
              <a:t>plt.figure(figsize=(7,4))</a:t>
            </a:r>
            <a:endParaRPr sz="1100">
              <a:solidFill>
                <a:schemeClr val="dk1"/>
              </a:solidFill>
            </a:endParaRPr>
          </a:p>
          <a:p>
            <a:pPr indent="0" lvl="0" marL="0" rtl="0" algn="l">
              <a:spcBef>
                <a:spcPts val="0"/>
              </a:spcBef>
              <a:spcAft>
                <a:spcPts val="0"/>
              </a:spcAft>
              <a:buNone/>
            </a:pPr>
            <a:r>
              <a:rPr lang="en" sz="1100">
                <a:solidFill>
                  <a:schemeClr val="dk1"/>
                </a:solidFill>
              </a:rPr>
              <a:t>bars = sns.barplot(x=list(results.keys()), y=list(results.values()), palette="magma")</a:t>
            </a:r>
            <a:endParaRPr sz="1100">
              <a:solidFill>
                <a:schemeClr val="dk1"/>
              </a:solidFill>
            </a:endParaRPr>
          </a:p>
          <a:p>
            <a:pPr indent="0" lvl="0" marL="0" rtl="0" algn="l">
              <a:spcBef>
                <a:spcPts val="0"/>
              </a:spcBef>
              <a:spcAft>
                <a:spcPts val="0"/>
              </a:spcAft>
              <a:buNone/>
            </a:pPr>
            <a:r>
              <a:rPr lang="en" sz="1100">
                <a:solidFill>
                  <a:schemeClr val="dk1"/>
                </a:solidFill>
              </a:rPr>
              <a:t>for i, model in enumerate(results.keys()):</a:t>
            </a:r>
            <a:endParaRPr sz="1100">
              <a:solidFill>
                <a:schemeClr val="dk1"/>
              </a:solidFill>
            </a:endParaRPr>
          </a:p>
          <a:p>
            <a:pPr indent="0" lvl="0" marL="0" rtl="0" algn="l">
              <a:spcBef>
                <a:spcPts val="0"/>
              </a:spcBef>
              <a:spcAft>
                <a:spcPts val="0"/>
              </a:spcAft>
              <a:buNone/>
            </a:pPr>
            <a:r>
              <a:rPr lang="en" sz="1100">
                <a:solidFill>
                  <a:schemeClr val="dk1"/>
                </a:solidFill>
              </a:rPr>
              <a:t>    if model == best_model_name:</a:t>
            </a:r>
            <a:endParaRPr sz="1100">
              <a:solidFill>
                <a:schemeClr val="dk1"/>
              </a:solidFill>
            </a:endParaRPr>
          </a:p>
          <a:p>
            <a:pPr indent="0" lvl="0" marL="0" rtl="0" algn="l">
              <a:spcBef>
                <a:spcPts val="0"/>
              </a:spcBef>
              <a:spcAft>
                <a:spcPts val="0"/>
              </a:spcAft>
              <a:buNone/>
            </a:pPr>
            <a:r>
              <a:rPr lang="en" sz="1100">
                <a:solidFill>
                  <a:schemeClr val="dk1"/>
                </a:solidFill>
              </a:rPr>
              <a:t>        bars.patches[i].set_color('green')</a:t>
            </a:r>
            <a:endParaRPr sz="1100">
              <a:solidFill>
                <a:schemeClr val="dk1"/>
              </a:solidFill>
            </a:endParaRPr>
          </a:p>
          <a:p>
            <a:pPr indent="0" lvl="0" marL="0" rtl="0" algn="l">
              <a:spcBef>
                <a:spcPts val="0"/>
              </a:spcBef>
              <a:spcAft>
                <a:spcPts val="0"/>
              </a:spcAft>
              <a:buNone/>
            </a:pPr>
            <a:r>
              <a:rPr lang="en" sz="1100">
                <a:solidFill>
                  <a:schemeClr val="dk1"/>
                </a:solidFill>
              </a:rPr>
              <a:t>plt.ylabel("Accuracy")</a:t>
            </a:r>
            <a:endParaRPr sz="1100">
              <a:solidFill>
                <a:schemeClr val="dk1"/>
              </a:solidFill>
            </a:endParaRPr>
          </a:p>
          <a:p>
            <a:pPr indent="0" lvl="0" marL="0" rtl="0" algn="l">
              <a:spcBef>
                <a:spcPts val="0"/>
              </a:spcBef>
              <a:spcAft>
                <a:spcPts val="0"/>
              </a:spcAft>
              <a:buNone/>
            </a:pPr>
            <a:r>
              <a:rPr lang="en" sz="1100">
                <a:solidFill>
                  <a:schemeClr val="dk1"/>
                </a:solidFill>
              </a:rPr>
              <a:t>plt.title("Model Comparison After Tuning (Best Highlighted in Green colour)")</a:t>
            </a:r>
            <a:endParaRPr sz="1100">
              <a:solidFill>
                <a:schemeClr val="dk1"/>
              </a:solidFill>
            </a:endParaRPr>
          </a:p>
          <a:p>
            <a:pPr indent="0" lvl="0" marL="0" rtl="0" algn="l">
              <a:spcBef>
                <a:spcPts val="0"/>
              </a:spcBef>
              <a:spcAft>
                <a:spcPts val="0"/>
              </a:spcAft>
              <a:buNone/>
            </a:pPr>
            <a:r>
              <a:rPr lang="en" sz="1100">
                <a:solidFill>
                  <a:schemeClr val="dk1"/>
                </a:solidFill>
              </a:rPr>
              <a:t>plt.show() </a:t>
            </a:r>
            <a:endParaRPr sz="11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t/>
            </a:r>
            <a:endParaRPr b="1" sz="1300">
              <a:solidFill>
                <a:schemeClr val="dk1"/>
              </a:solidFill>
            </a:endParaRPr>
          </a:p>
          <a:p>
            <a:pPr indent="0" lvl="0" marL="0" rtl="0" algn="l">
              <a:spcBef>
                <a:spcPts val="0"/>
              </a:spcBef>
              <a:spcAft>
                <a:spcPts val="0"/>
              </a:spcAft>
              <a:buNone/>
            </a:pPr>
            <a:r>
              <a:rPr b="1" lang="en" sz="1300">
                <a:solidFill>
                  <a:schemeClr val="dk1"/>
                </a:solidFill>
              </a:rPr>
              <a:t>                                           REFERENCES  : </a:t>
            </a:r>
            <a:r>
              <a:rPr b="1" lang="en" sz="1200" u="sng">
                <a:solidFill>
                  <a:schemeClr val="hlink"/>
                </a:solidFill>
                <a:hlinkClick r:id="rId3"/>
              </a:rPr>
              <a:t>UCI Machine Learning Repository</a:t>
            </a:r>
            <a:r>
              <a:rPr lang="en" sz="1200" u="sng">
                <a:solidFill>
                  <a:schemeClr val="hlink"/>
                </a:solidFill>
                <a:hlinkClick r:id="rId4"/>
              </a:rPr>
              <a:t>.</a:t>
            </a:r>
            <a:endParaRPr sz="12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